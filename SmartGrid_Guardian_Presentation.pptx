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3B82F6"/>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3B82F6"/>
              </a:solidFill>
              <a:effectLst/>
            </c:spPr>
          </c:dPt>
          <c:dPt>
            <c:idx val="1"/>
            <c:invertIfNegative val="0"/>
            <c:bubble3D val="0"/>
            <c:spPr>
              <a:solidFill>
                <a:srgbClr val="F59E0B"/>
              </a:solidFill>
              <a:effectLst/>
            </c:spPr>
          </c:dPt>
          <c:dPt>
            <c:idx val="2"/>
            <c:invertIfNegative val="0"/>
            <c:bubble3D val="0"/>
            <c:spPr>
              <a:solidFill>
                <a:srgbClr val="10B981"/>
              </a:solidFill>
              <a:effectLst/>
            </c:spPr>
          </c:dPt>
          <c:dPt>
            <c:idx val="3"/>
            <c:invertIfNegative val="0"/>
            <c:bubble3D val="0"/>
            <c:spPr>
              <a:solidFill>
                <a:srgbClr val="7C3AED"/>
              </a:solidFill>
              <a:effectLst/>
            </c:spPr>
          </c:dPt>
          <c:cat>
            <c:multiLvlStrRef>
              <c:f>Sheet1!$A$2:$A$5</c:f>
              <c:multiLvlStrCache>
                <c:ptCount val="4"/>
                <c:lvl>
                  <c:pt idx="0">
                    <c:v>Logistic
Regression</c:v>
                  </c:pt>
                  <c:pt idx="1">
                    <c:v>Decision
Tree</c:v>
                  </c:pt>
                  <c:pt idx="2">
                    <c:v>Random
Forest</c:v>
                  </c:pt>
                  <c:pt idx="3">
                    <c:v>XGBoost</c:v>
                  </c:pt>
                </c:lvl>
              </c:multiLvlStrCache>
            </c:multiLvlStrRef>
          </c:cat>
          <c:val>
            <c:numRef>
              <c:f>Sheet1!$B$2:$B$5</c:f>
              <c:numCache>
                <c:formatCode>General</c:formatCode>
                <c:ptCount val="4"/>
                <c:pt idx="0">
                  <c:v>76</c:v>
                </c:pt>
                <c:pt idx="1">
                  <c:v>88</c:v>
                </c:pt>
                <c:pt idx="2">
                  <c:v>93</c:v>
                </c:pt>
                <c:pt idx="3">
                  <c:v>97</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A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professors and members of the review committee.
My name is [Your Name], and I am here to present my B.Tech project titled SmartGrid Guardian — an AI-powered system that uses machine learning to predict the stability of a smart grid.
In the next 5 to 7 minutes, I will walk you through the problem, my approach, the dataset I used, the models I trained, the results, and the final deployed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smart grid is not just wiring — it's an intelligent network that responds dynamically to usage patterns.
The problem is that when too many producers and consumers interact simultaneously, the grid can become unstable.
This instability can cause equipment damage or even large-scale blackouts.
Traditional stability analysis relies on heavy mathematical simulations that cannot run in real time.
My project solves this by using machine learning to predict instability almost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SmartGrid Guardian is the name of my project — think of it as a guardian that watches over the grid.
When a grid operator or researcher enters the current parameters of the grid, the system immediately tells them: stable or unstable.
The reason I chose machine learning is that it learns from data rather than relying on hard-coded formulas.
Once trained, it gives predictions in milliseconds — something that physical simulations cannot achieve.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 used is the Smart Grid Stability Dataset — a benchmark simulation dataset widely used in research.
It is NOT real utility data; it comes from a simulation of a 4-node grid with one producer and three consumers.
There are 12 input features grouped into three types: tau values represent how quickly participants respond to changes; p values represent how much power each node generates or consumes; and g values represent how sensitive each consumer is to price signals.
The output is binary — either stable or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architecture of the system in two phases.
The training phase happens offline: I load the dataset, preprocess it, train all four models, compare them, and save the best model — XGBoost — as a file.
The inference phase happens online when a user opens the dashboard: they enter the 12 grid parameters, the values are scaled using the same scaler from training, and the saved XGBoost model produces a prediction instantly.
The flow is: Grid Parameters → Preprocessing → Model Training → Best Model → Prediction →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and tested four different machine learning models.
Logistic Regression was used as a baseline — it is simple and tells us the minimum accuracy we should beat.
Decision Tree is easy to explain visually — it makes a series of if-then decisions.
Random Forest improves on Decision Tree by using hundreds of trees and voting on the result.
XGBoost is a gradient boosting algorithm — it builds trees sequentially, where each new tree corrects the errors of the previous one. It achieved the highest accuracy.
The reason I used multiple models is scientific: comparing them lets me objectively choose the best one rather than just picking one arbitrarily.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of my model comparison.
Logistic Regression achieved around 76% accuracy — good as a baseline but not sufficient.
Decision Tree improved to about 88%, but it overfits.
Random Forest reached 93% by combining many trees.
XGBoost achieved approximately 97% accuracy with the best precision, recall, and F1-score across the board.
I selected XGBoost because it not only has the highest accuracy but also consistently high precision and recall — meaning it is reliable for both stable and unstable predictions.
Note: these figures are representative of typical results on this benchmark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interface is built using Streamlit — a Python library that turns scripts into interactive web apps.
On the left panel, the user enters all 12 grid parameters through input fields.
When they click Predict, the system scales the inputs using the same scaler used during training, passes them to the XGBoost model, and returns the result.
The output is shown with a green stable or red unstable label, along with a risk message.
There is also a feature importance chart so users can understand which parameters are most critical to grid stability.
This makes the tool usable even by someone who does not understand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aligns with three United Nations Sustainable Development Goals.
SDG 7 — Clean Energy: by predicting and preventing instability, we ensure renewable energy is delivered efficiently without waste.
SDG 9 — Innovation and Infrastructure: applying machine learning to energy infrastructure is a direct example of industrial innovation.
SDG 11 — Sustainable Cities: smart, stable grids are the backbone of modern smart cities — they keep hospitals, homes, and public services running reliably.
This alignment shows that the project is not just a technical exercise but has real-world social and environmental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in this project I built SmartGrid Guardian, a machine learning system that predicts smart grid stability.
I trained four models, compared them fairly, and identified XGBoost as the best with approximately 97% accuracy.
I deployed the model as a Streamlit web dashboard where users can enter grid parameters and get instant predictions.
The project is aligned with three SDGs and contributes to the growing field of AI in energy systems.
For future work, I plan to integrate real-time IoT sensor data, explore LSTM-based time-series forecasting, and add SHAP explainability so users understand why the model made a particular prediction.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858000" y="-1097280"/>
            <a:ext cx="4114800" cy="4114800"/>
          </a:xfrm>
          <a:prstGeom prst="ellipse">
            <a:avLst/>
          </a:prstGeom>
          <a:solidFill>
            <a:srgbClr val="1A56DB">
              <a:alpha val="18000"/>
            </a:srgbClr>
          </a:solidFill>
          <a:ln w="12700">
            <a:solidFill>
              <a:srgbClr val="0D1B3E"/>
            </a:solidFill>
            <a:prstDash val="solid"/>
          </a:ln>
        </p:spPr>
      </p:sp>
      <p:sp>
        <p:nvSpPr>
          <p:cNvPr id="3" name="Shape 1"/>
          <p:cNvSpPr/>
          <p:nvPr/>
        </p:nvSpPr>
        <p:spPr>
          <a:xfrm>
            <a:off x="-1097280" y="2926080"/>
            <a:ext cx="3200400" cy="3200400"/>
          </a:xfrm>
          <a:prstGeom prst="ellipse">
            <a:avLst/>
          </a:prstGeom>
          <a:solidFill>
            <a:srgbClr val="0891B2">
              <a:alpha val="15000"/>
            </a:srgbClr>
          </a:solidFill>
          <a:ln w="12700">
            <a:solidFill>
              <a:srgbClr val="0D1B3E"/>
            </a:solidFill>
            <a:prstDash val="solid"/>
          </a:ln>
        </p:spPr>
      </p:sp>
      <p:pic>
        <p:nvPicPr>
          <p:cNvPr id="4" name="Image 0" descr="preencoded.png">    </p:cNvPr>
          <p:cNvPicPr>
            <a:picLocks noChangeAspect="1"/>
          </p:cNvPicPr>
          <p:nvPr/>
        </p:nvPicPr>
        <p:blipFill>
          <a:blip r:embed="rId1"/>
          <a:stretch>
            <a:fillRect/>
          </a:stretch>
        </p:blipFill>
        <p:spPr>
          <a:xfrm>
            <a:off x="4023360" y="411480"/>
            <a:ext cx="1097280" cy="1097280"/>
          </a:xfrm>
          <a:prstGeom prst="rect">
            <a:avLst/>
          </a:prstGeom>
        </p:spPr>
      </p:pic>
      <p:sp>
        <p:nvSpPr>
          <p:cNvPr id="5" name="Text 2"/>
          <p:cNvSpPr/>
          <p:nvPr/>
        </p:nvSpPr>
        <p:spPr>
          <a:xfrm>
            <a:off x="548640" y="1554480"/>
            <a:ext cx="8046720" cy="100584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SmartGrid Guardian</a:t>
            </a:r>
            <a:endParaRPr lang="en-US" sz="3600" dirty="0"/>
          </a:p>
        </p:txBody>
      </p:sp>
      <p:sp>
        <p:nvSpPr>
          <p:cNvPr id="6" name="Text 3"/>
          <p:cNvSpPr/>
          <p:nvPr/>
        </p:nvSpPr>
        <p:spPr>
          <a:xfrm>
            <a:off x="548640" y="2514600"/>
            <a:ext cx="8046720" cy="502920"/>
          </a:xfrm>
          <a:prstGeom prst="rect">
            <a:avLst/>
          </a:prstGeom>
          <a:noFill/>
          <a:ln/>
        </p:spPr>
        <p:txBody>
          <a:bodyPr wrap="square" rtlCol="0" anchor="ctr"/>
          <a:lstStyle/>
          <a:p>
            <a:pPr algn="ctr" indent="0" marL="0">
              <a:buNone/>
            </a:pPr>
            <a:r>
              <a:rPr lang="en-US" sz="1800" dirty="0">
                <a:solidFill>
                  <a:srgbClr val="93C5FD"/>
                </a:solidFill>
                <a:latin typeface="Calibri" pitchFamily="34" charset="0"/>
                <a:ea typeface="Calibri" pitchFamily="34" charset="-122"/>
                <a:cs typeface="Calibri" pitchFamily="34" charset="-120"/>
              </a:rPr>
              <a:t>AI-Powered Smart Grid Stability Prediction</a:t>
            </a:r>
            <a:endParaRPr lang="en-US" sz="1800" dirty="0"/>
          </a:p>
        </p:txBody>
      </p:sp>
      <p:sp>
        <p:nvSpPr>
          <p:cNvPr id="7" name="Text 4"/>
          <p:cNvSpPr/>
          <p:nvPr/>
        </p:nvSpPr>
        <p:spPr>
          <a:xfrm>
            <a:off x="548640" y="2971800"/>
            <a:ext cx="8046720" cy="411480"/>
          </a:xfrm>
          <a:prstGeom prst="rect">
            <a:avLst/>
          </a:prstGeom>
          <a:noFill/>
          <a:ln/>
        </p:spPr>
        <p:txBody>
          <a:bodyPr wrap="square" rtlCol="0" anchor="ctr"/>
          <a:lstStyle/>
          <a:p>
            <a:pPr algn="ctr" indent="0" marL="0">
              <a:buNone/>
            </a:pPr>
            <a:r>
              <a:rPr lang="en-US" sz="1600" i="1" dirty="0">
                <a:solidFill>
                  <a:srgbClr val="93C5FD"/>
                </a:solidFill>
                <a:latin typeface="Calibri" pitchFamily="34" charset="0"/>
                <a:ea typeface="Calibri" pitchFamily="34" charset="-122"/>
                <a:cs typeface="Calibri" pitchFamily="34" charset="-120"/>
              </a:rPr>
              <a:t>Using Machine Learning</a:t>
            </a:r>
            <a:endParaRPr lang="en-US" sz="1600" dirty="0"/>
          </a:p>
        </p:txBody>
      </p:sp>
      <p:sp>
        <p:nvSpPr>
          <p:cNvPr id="8" name="Shape 5"/>
          <p:cNvSpPr/>
          <p:nvPr/>
        </p:nvSpPr>
        <p:spPr>
          <a:xfrm>
            <a:off x="3200400" y="3493008"/>
            <a:ext cx="2743200" cy="36576"/>
          </a:xfrm>
          <a:prstGeom prst="rect">
            <a:avLst/>
          </a:prstGeom>
          <a:solidFill>
            <a:srgbClr val="0891B2"/>
          </a:solidFill>
          <a:ln w="12700">
            <a:solidFill>
              <a:srgbClr val="0891B2"/>
            </a:solidFill>
            <a:prstDash val="solid"/>
          </a:ln>
        </p:spPr>
      </p:sp>
      <p:sp>
        <p:nvSpPr>
          <p:cNvPr id="9" name="Text 6"/>
          <p:cNvSpPr/>
          <p:nvPr/>
        </p:nvSpPr>
        <p:spPr>
          <a:xfrm>
            <a:off x="1371600" y="3703320"/>
            <a:ext cx="6400800" cy="256032"/>
          </a:xfrm>
          <a:prstGeom prst="rect">
            <a:avLst/>
          </a:prstGeom>
          <a:noFill/>
          <a:ln/>
        </p:spPr>
        <p:txBody>
          <a:bodyPr wrap="square" rtlCol="0" anchor="ctr"/>
          <a:lstStyle/>
          <a:p>
            <a:pPr indent="0" marL="0">
              <a:buNone/>
            </a:pPr>
            <a:r>
              <a:rPr lang="en-US" sz="1200" b="1" dirty="0">
                <a:solidFill>
                  <a:srgbClr val="93C5FD"/>
                </a:solidFill>
                <a:latin typeface="Calibri" pitchFamily="34" charset="0"/>
                <a:ea typeface="Calibri" pitchFamily="34" charset="-122"/>
                <a:cs typeface="Calibri" pitchFamily="34" charset="-120"/>
              </a:rPr>
              <a:t>Student Name: </a:t>
            </a:r>
            <a:pPr indent="0" marL="0">
              <a:buNone/>
            </a:pPr>
            <a:r>
              <a:rPr lang="en-US" sz="1200" dirty="0">
                <a:solidFill>
                  <a:srgbClr val="FFFFFF"/>
                </a:solidFill>
                <a:latin typeface="Calibri" pitchFamily="34" charset="0"/>
                <a:ea typeface="Calibri" pitchFamily="34" charset="-122"/>
                <a:cs typeface="Calibri" pitchFamily="34" charset="-120"/>
              </a:rPr>
              <a:t>[Your Full Name]</a:t>
            </a:r>
            <a:endParaRPr lang="en-US" sz="1200" dirty="0"/>
          </a:p>
        </p:txBody>
      </p:sp>
      <p:sp>
        <p:nvSpPr>
          <p:cNvPr id="10" name="Text 7"/>
          <p:cNvSpPr/>
          <p:nvPr/>
        </p:nvSpPr>
        <p:spPr>
          <a:xfrm>
            <a:off x="1371600" y="3977640"/>
            <a:ext cx="6400800" cy="256032"/>
          </a:xfrm>
          <a:prstGeom prst="rect">
            <a:avLst/>
          </a:prstGeom>
          <a:noFill/>
          <a:ln/>
        </p:spPr>
        <p:txBody>
          <a:bodyPr wrap="square" rtlCol="0" anchor="ctr"/>
          <a:lstStyle/>
          <a:p>
            <a:pPr indent="0" marL="0">
              <a:buNone/>
            </a:pPr>
            <a:r>
              <a:rPr lang="en-US" sz="1200" b="1" dirty="0">
                <a:solidFill>
                  <a:srgbClr val="93C5FD"/>
                </a:solidFill>
                <a:latin typeface="Calibri" pitchFamily="34" charset="0"/>
                <a:ea typeface="Calibri" pitchFamily="34" charset="-122"/>
                <a:cs typeface="Calibri" pitchFamily="34" charset="-120"/>
              </a:rPr>
              <a:t>Branch: </a:t>
            </a:r>
            <a:pPr indent="0" marL="0">
              <a:buNone/>
            </a:pPr>
            <a:r>
              <a:rPr lang="en-US" sz="1200" dirty="0">
                <a:solidFill>
                  <a:srgbClr val="FFFFFF"/>
                </a:solidFill>
                <a:latin typeface="Calibri" pitchFamily="34" charset="0"/>
                <a:ea typeface="Calibri" pitchFamily="34" charset="-122"/>
                <a:cs typeface="Calibri" pitchFamily="34" charset="-120"/>
              </a:rPr>
              <a:t>B.Tech – Computer Science &amp; Engineering</a:t>
            </a:r>
            <a:endParaRPr lang="en-US" sz="1200" dirty="0"/>
          </a:p>
        </p:txBody>
      </p:sp>
      <p:sp>
        <p:nvSpPr>
          <p:cNvPr id="11" name="Text 8"/>
          <p:cNvSpPr/>
          <p:nvPr/>
        </p:nvSpPr>
        <p:spPr>
          <a:xfrm>
            <a:off x="1371600" y="4251960"/>
            <a:ext cx="6400800" cy="256032"/>
          </a:xfrm>
          <a:prstGeom prst="rect">
            <a:avLst/>
          </a:prstGeom>
          <a:noFill/>
          <a:ln/>
        </p:spPr>
        <p:txBody>
          <a:bodyPr wrap="square" rtlCol="0" anchor="ctr"/>
          <a:lstStyle/>
          <a:p>
            <a:pPr indent="0" marL="0">
              <a:buNone/>
            </a:pPr>
            <a:r>
              <a:rPr lang="en-US" sz="1200" b="1" dirty="0">
                <a:solidFill>
                  <a:srgbClr val="93C5FD"/>
                </a:solidFill>
                <a:latin typeface="Calibri" pitchFamily="34" charset="0"/>
                <a:ea typeface="Calibri" pitchFamily="34" charset="-122"/>
                <a:cs typeface="Calibri" pitchFamily="34" charset="-120"/>
              </a:rPr>
              <a:t>College: </a:t>
            </a:r>
            <a:pPr indent="0" marL="0">
              <a:buNone/>
            </a:pPr>
            <a:r>
              <a:rPr lang="en-US" sz="1200" dirty="0">
                <a:solidFill>
                  <a:srgbClr val="FFFFFF"/>
                </a:solidFill>
                <a:latin typeface="Calibri" pitchFamily="34" charset="0"/>
                <a:ea typeface="Calibri" pitchFamily="34" charset="-122"/>
                <a:cs typeface="Calibri" pitchFamily="34" charset="-120"/>
              </a:rPr>
              <a:t>[Your College Name]</a:t>
            </a:r>
            <a:endParaRPr lang="en-US" sz="1200" dirty="0"/>
          </a:p>
        </p:txBody>
      </p:sp>
      <p:sp>
        <p:nvSpPr>
          <p:cNvPr id="12" name="Text 9"/>
          <p:cNvSpPr/>
          <p:nvPr/>
        </p:nvSpPr>
        <p:spPr>
          <a:xfrm>
            <a:off x="1371600" y="4526280"/>
            <a:ext cx="6400800" cy="256032"/>
          </a:xfrm>
          <a:prstGeom prst="rect">
            <a:avLst/>
          </a:prstGeom>
          <a:noFill/>
          <a:ln/>
        </p:spPr>
        <p:txBody>
          <a:bodyPr wrap="square" rtlCol="0" anchor="ctr"/>
          <a:lstStyle/>
          <a:p>
            <a:pPr indent="0" marL="0">
              <a:buNone/>
            </a:pPr>
            <a:r>
              <a:rPr lang="en-US" sz="1200" b="1" dirty="0">
                <a:solidFill>
                  <a:srgbClr val="93C5FD"/>
                </a:solidFill>
                <a:latin typeface="Calibri" pitchFamily="34" charset="0"/>
                <a:ea typeface="Calibri" pitchFamily="34" charset="-122"/>
                <a:cs typeface="Calibri" pitchFamily="34" charset="-120"/>
              </a:rPr>
              <a:t>Year: </a:t>
            </a:r>
            <a:pPr indent="0" marL="0">
              <a:buNone/>
            </a:pPr>
            <a:r>
              <a:rPr lang="en-US" sz="1200" dirty="0">
                <a:solidFill>
                  <a:srgbClr val="FFFFFF"/>
                </a:solidFill>
                <a:latin typeface="Calibri" pitchFamily="34" charset="0"/>
                <a:ea typeface="Calibri" pitchFamily="34" charset="-122"/>
                <a:cs typeface="Calibri" pitchFamily="34" charset="-120"/>
              </a:rPr>
              <a:t>2024 –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10</a:t>
            </a:r>
            <a:endParaRPr lang="en-US" sz="900" dirty="0"/>
          </a:p>
        </p:txBody>
      </p:sp>
      <p:sp>
        <p:nvSpPr>
          <p:cNvPr id="6" name="Shape 3"/>
          <p:cNvSpPr/>
          <p:nvPr/>
        </p:nvSpPr>
        <p:spPr>
          <a:xfrm>
            <a:off x="228600" y="1097280"/>
            <a:ext cx="2743200" cy="3566160"/>
          </a:xfrm>
          <a:prstGeom prst="roundRect">
            <a:avLst>
              <a:gd name="adj" fmla="val 4000"/>
            </a:avLst>
          </a:prstGeom>
          <a:solidFill>
            <a:srgbClr val="EFF6FF"/>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7" name="Shape 4"/>
          <p:cNvSpPr/>
          <p:nvPr/>
        </p:nvSpPr>
        <p:spPr>
          <a:xfrm>
            <a:off x="228600" y="1097280"/>
            <a:ext cx="2743200" cy="502920"/>
          </a:xfrm>
          <a:prstGeom prst="rect">
            <a:avLst/>
          </a:prstGeom>
          <a:solidFill>
            <a:srgbClr val="0D1B3E"/>
          </a:solidFill>
          <a:ln w="12700">
            <a:solidFill>
              <a:srgbClr val="0D1B3E"/>
            </a:solidFill>
            <a:prstDash val="solid"/>
          </a:ln>
        </p:spPr>
      </p:sp>
      <p:sp>
        <p:nvSpPr>
          <p:cNvPr id="8" name="Text 5"/>
          <p:cNvSpPr/>
          <p:nvPr/>
        </p:nvSpPr>
        <p:spPr>
          <a:xfrm>
            <a:off x="338328" y="1097280"/>
            <a:ext cx="2523744" cy="502920"/>
          </a:xfrm>
          <a:prstGeom prst="rect">
            <a:avLst/>
          </a:prstGeom>
          <a:noFill/>
          <a:ln/>
        </p:spPr>
        <p:txBody>
          <a:bodyPr wrap="square" lIns="50800" tIns="50800" rIns="50800" bIns="508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is a Smart Grid?</a:t>
            </a:r>
            <a:endParaRPr lang="en-US" sz="1200" dirty="0"/>
          </a:p>
        </p:txBody>
      </p:sp>
      <p:sp>
        <p:nvSpPr>
          <p:cNvPr id="9" name="Text 6"/>
          <p:cNvSpPr/>
          <p:nvPr/>
        </p:nvSpPr>
        <p:spPr>
          <a:xfrm>
            <a:off x="338328" y="1691640"/>
            <a:ext cx="2523744" cy="2834640"/>
          </a:xfrm>
          <a:prstGeom prst="rect">
            <a:avLst/>
          </a:prstGeom>
          <a:noFill/>
          <a:ln/>
        </p:spPr>
        <p:txBody>
          <a:bodyPr wrap="square" lIns="76200" tIns="76200" rIns="76200" bIns="76200" rtlCol="0" anchor="t"/>
          <a:lstStyle/>
          <a:p>
            <a:pPr indent="0" marL="0">
              <a:buNone/>
            </a:pPr>
            <a:r>
              <a:rPr lang="en-US" sz="1200" dirty="0">
                <a:solidFill>
                  <a:srgbClr val="1E293B"/>
                </a:solidFill>
                <a:latin typeface="Calibri" pitchFamily="34" charset="0"/>
                <a:ea typeface="Calibri" pitchFamily="34" charset="-122"/>
                <a:cs typeface="Calibri" pitchFamily="34" charset="-120"/>
              </a:rPr>
              <a:t>A smart grid is a modern electricity network that allows two-way flow of both power and data between utilities and consumers, enabling real-time monitoring and control.</a:t>
            </a:r>
            <a:endParaRPr lang="en-US" sz="1200" dirty="0"/>
          </a:p>
        </p:txBody>
      </p:sp>
      <p:sp>
        <p:nvSpPr>
          <p:cNvPr id="10" name="Shape 7"/>
          <p:cNvSpPr/>
          <p:nvPr/>
        </p:nvSpPr>
        <p:spPr>
          <a:xfrm>
            <a:off x="3154680" y="1097280"/>
            <a:ext cx="2743200" cy="3566160"/>
          </a:xfrm>
          <a:prstGeom prst="roundRect">
            <a:avLst>
              <a:gd name="adj" fmla="val 4000"/>
            </a:avLst>
          </a:prstGeom>
          <a:solidFill>
            <a:srgbClr val="ECFDF5"/>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1" name="Shape 8"/>
          <p:cNvSpPr/>
          <p:nvPr/>
        </p:nvSpPr>
        <p:spPr>
          <a:xfrm>
            <a:off x="3154680" y="1097280"/>
            <a:ext cx="2743200" cy="502920"/>
          </a:xfrm>
          <a:prstGeom prst="rect">
            <a:avLst/>
          </a:prstGeom>
          <a:solidFill>
            <a:srgbClr val="0D1B3E"/>
          </a:solidFill>
          <a:ln w="12700">
            <a:solidFill>
              <a:srgbClr val="0D1B3E"/>
            </a:solidFill>
            <a:prstDash val="solid"/>
          </a:ln>
        </p:spPr>
      </p:sp>
      <p:sp>
        <p:nvSpPr>
          <p:cNvPr id="12" name="Text 9"/>
          <p:cNvSpPr/>
          <p:nvPr/>
        </p:nvSpPr>
        <p:spPr>
          <a:xfrm>
            <a:off x="3264408" y="1097280"/>
            <a:ext cx="2523744" cy="502920"/>
          </a:xfrm>
          <a:prstGeom prst="rect">
            <a:avLst/>
          </a:prstGeom>
          <a:noFill/>
          <a:ln/>
        </p:spPr>
        <p:txBody>
          <a:bodyPr wrap="square" lIns="50800" tIns="50800" rIns="50800" bIns="508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Stability Matters?</a:t>
            </a:r>
            <a:endParaRPr lang="en-US" sz="1200" dirty="0"/>
          </a:p>
        </p:txBody>
      </p:sp>
      <p:sp>
        <p:nvSpPr>
          <p:cNvPr id="13" name="Text 10"/>
          <p:cNvSpPr/>
          <p:nvPr/>
        </p:nvSpPr>
        <p:spPr>
          <a:xfrm>
            <a:off x="3264408" y="1691640"/>
            <a:ext cx="2523744" cy="2834640"/>
          </a:xfrm>
          <a:prstGeom prst="rect">
            <a:avLst/>
          </a:prstGeom>
          <a:noFill/>
          <a:ln/>
        </p:spPr>
        <p:txBody>
          <a:bodyPr wrap="square" lIns="76200" tIns="76200" rIns="76200" bIns="76200" rtlCol="0" anchor="t"/>
          <a:lstStyle/>
          <a:p>
            <a:pPr indent="0" marL="0">
              <a:buNone/>
            </a:pPr>
            <a:r>
              <a:rPr lang="en-US" sz="1200" dirty="0">
                <a:solidFill>
                  <a:srgbClr val="1E293B"/>
                </a:solidFill>
                <a:latin typeface="Calibri" pitchFamily="34" charset="0"/>
                <a:ea typeface="Calibri" pitchFamily="34" charset="-122"/>
                <a:cs typeface="Calibri" pitchFamily="34" charset="-120"/>
              </a:rPr>
              <a:t>An unstable grid can cause equipment damage, power outages, and cascading blackouts. Maintaining stability is critical for continuous, safe energy delivery.</a:t>
            </a:r>
            <a:endParaRPr lang="en-US" sz="1200" dirty="0"/>
          </a:p>
        </p:txBody>
      </p:sp>
      <p:sp>
        <p:nvSpPr>
          <p:cNvPr id="14" name="Shape 11"/>
          <p:cNvSpPr/>
          <p:nvPr/>
        </p:nvSpPr>
        <p:spPr>
          <a:xfrm>
            <a:off x="6080760" y="1097280"/>
            <a:ext cx="2743200" cy="3566160"/>
          </a:xfrm>
          <a:prstGeom prst="roundRect">
            <a:avLst>
              <a:gd name="adj" fmla="val 4000"/>
            </a:avLst>
          </a:prstGeom>
          <a:solidFill>
            <a:srgbClr val="FFF7ED"/>
          </a:solidFill>
          <a:ln w="6350">
            <a:solidFill>
              <a:srgbClr val="E2E8F0"/>
            </a:solidFill>
            <a:prstDash val="solid"/>
          </a:ln>
          <a:effectLst>
            <a:outerShdw sx="100000" sy="100000" kx="0" ky="0" algn="bl" rotWithShape="0" blurRad="101600" dist="38100" dir="2700000">
              <a:srgbClr val="000000">
                <a:alpha val="13000"/>
              </a:srgbClr>
            </a:outerShdw>
          </a:effectLst>
        </p:spPr>
      </p:sp>
      <p:sp>
        <p:nvSpPr>
          <p:cNvPr id="15" name="Shape 12"/>
          <p:cNvSpPr/>
          <p:nvPr/>
        </p:nvSpPr>
        <p:spPr>
          <a:xfrm>
            <a:off x="6080760" y="1097280"/>
            <a:ext cx="2743200" cy="502920"/>
          </a:xfrm>
          <a:prstGeom prst="rect">
            <a:avLst/>
          </a:prstGeom>
          <a:solidFill>
            <a:srgbClr val="0D1B3E"/>
          </a:solidFill>
          <a:ln w="12700">
            <a:solidFill>
              <a:srgbClr val="0D1B3E"/>
            </a:solidFill>
            <a:prstDash val="solid"/>
          </a:ln>
        </p:spPr>
      </p:sp>
      <p:sp>
        <p:nvSpPr>
          <p:cNvPr id="16" name="Text 13"/>
          <p:cNvSpPr/>
          <p:nvPr/>
        </p:nvSpPr>
        <p:spPr>
          <a:xfrm>
            <a:off x="6190488" y="1097280"/>
            <a:ext cx="2523744" cy="502920"/>
          </a:xfrm>
          <a:prstGeom prst="rect">
            <a:avLst/>
          </a:prstGeom>
          <a:noFill/>
          <a:ln/>
        </p:spPr>
        <p:txBody>
          <a:bodyPr wrap="square" lIns="50800" tIns="50800" rIns="50800" bIns="508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Key Challenges</a:t>
            </a:r>
            <a:endParaRPr lang="en-US" sz="1200" dirty="0"/>
          </a:p>
        </p:txBody>
      </p:sp>
      <p:sp>
        <p:nvSpPr>
          <p:cNvPr id="17" name="Text 14"/>
          <p:cNvSpPr/>
          <p:nvPr/>
        </p:nvSpPr>
        <p:spPr>
          <a:xfrm>
            <a:off x="6190488" y="1691640"/>
            <a:ext cx="2523744" cy="2834640"/>
          </a:xfrm>
          <a:prstGeom prst="rect">
            <a:avLst/>
          </a:prstGeom>
          <a:noFill/>
          <a:ln/>
        </p:spPr>
        <p:txBody>
          <a:bodyPr wrap="square" lIns="76200" tIns="76200" rIns="76200" bIns="76200" rtlCol="0" anchor="t"/>
          <a:lstStyle/>
          <a:p>
            <a:pPr indent="0" marL="0">
              <a:buNone/>
            </a:pPr>
            <a:r>
              <a:rPr lang="en-US" sz="1200" dirty="0">
                <a:solidFill>
                  <a:srgbClr val="1E293B"/>
                </a:solidFill>
                <a:latin typeface="Calibri" pitchFamily="34" charset="0"/>
                <a:ea typeface="Calibri" pitchFamily="34" charset="-122"/>
                <a:cs typeface="Calibri" pitchFamily="34" charset="-120"/>
              </a:rPr>
              <a:t>Renewable energy sources are unpredictable. Consumer demand fluctuates. Traditional methods are too slow and computationally heavy for real-time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Idea: SmartGrid Guardian</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10</a:t>
            </a:r>
            <a:endParaRPr lang="en-US" sz="900" dirty="0"/>
          </a:p>
        </p:txBody>
      </p:sp>
      <p:sp>
        <p:nvSpPr>
          <p:cNvPr id="6" name="Shape 3"/>
          <p:cNvSpPr/>
          <p:nvPr/>
        </p:nvSpPr>
        <p:spPr>
          <a:xfrm>
            <a:off x="228600" y="1188720"/>
            <a:ext cx="411480" cy="411480"/>
          </a:xfrm>
          <a:prstGeom prst="ellipse">
            <a:avLst/>
          </a:prstGeom>
          <a:solidFill>
            <a:srgbClr val="0D1B3E"/>
          </a:solidFill>
          <a:ln w="12700">
            <a:solidFill>
              <a:srgbClr val="0D1B3E"/>
            </a:solidFill>
            <a:prstDash val="solid"/>
          </a:ln>
        </p:spPr>
      </p:sp>
      <p:sp>
        <p:nvSpPr>
          <p:cNvPr id="7" name="Text 4"/>
          <p:cNvSpPr/>
          <p:nvPr/>
        </p:nvSpPr>
        <p:spPr>
          <a:xfrm>
            <a:off x="228600" y="11887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777240" y="1143000"/>
            <a:ext cx="4937760" cy="347472"/>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What it is</a:t>
            </a:r>
            <a:endParaRPr lang="en-US" sz="1400" dirty="0"/>
          </a:p>
        </p:txBody>
      </p:sp>
      <p:sp>
        <p:nvSpPr>
          <p:cNvPr id="9" name="Text 6"/>
          <p:cNvSpPr/>
          <p:nvPr/>
        </p:nvSpPr>
        <p:spPr>
          <a:xfrm>
            <a:off x="777240" y="1463040"/>
            <a:ext cx="4937760" cy="82296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SmartGrid Guardian is a machine learning-based web system that predicts whether a smart grid configuration will be stable or unstable.</a:t>
            </a:r>
            <a:endParaRPr lang="en-US" sz="1200" dirty="0"/>
          </a:p>
        </p:txBody>
      </p:sp>
      <p:sp>
        <p:nvSpPr>
          <p:cNvPr id="10" name="Shape 7"/>
          <p:cNvSpPr/>
          <p:nvPr/>
        </p:nvSpPr>
        <p:spPr>
          <a:xfrm>
            <a:off x="228600" y="2468880"/>
            <a:ext cx="411480" cy="411480"/>
          </a:xfrm>
          <a:prstGeom prst="ellipse">
            <a:avLst/>
          </a:prstGeom>
          <a:solidFill>
            <a:srgbClr val="0D1B3E"/>
          </a:solidFill>
          <a:ln w="12700">
            <a:solidFill>
              <a:srgbClr val="0D1B3E"/>
            </a:solidFill>
            <a:prstDash val="solid"/>
          </a:ln>
        </p:spPr>
      </p:sp>
      <p:sp>
        <p:nvSpPr>
          <p:cNvPr id="11" name="Text 8"/>
          <p:cNvSpPr/>
          <p:nvPr/>
        </p:nvSpPr>
        <p:spPr>
          <a:xfrm>
            <a:off x="228600" y="24688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777240" y="2423160"/>
            <a:ext cx="4937760" cy="347472"/>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Problem it solves</a:t>
            </a:r>
            <a:endParaRPr lang="en-US" sz="1400" dirty="0"/>
          </a:p>
        </p:txBody>
      </p:sp>
      <p:sp>
        <p:nvSpPr>
          <p:cNvPr id="13" name="Text 10"/>
          <p:cNvSpPr/>
          <p:nvPr/>
        </p:nvSpPr>
        <p:spPr>
          <a:xfrm>
            <a:off x="777240" y="2743200"/>
            <a:ext cx="4937760" cy="82296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It removes the need for slow, complex physical simulations by making predictions in real time using a trained ML model.</a:t>
            </a:r>
            <a:endParaRPr lang="en-US" sz="1200" dirty="0"/>
          </a:p>
        </p:txBody>
      </p:sp>
      <p:sp>
        <p:nvSpPr>
          <p:cNvPr id="14" name="Shape 11"/>
          <p:cNvSpPr/>
          <p:nvPr/>
        </p:nvSpPr>
        <p:spPr>
          <a:xfrm>
            <a:off x="228600" y="3749040"/>
            <a:ext cx="411480" cy="411480"/>
          </a:xfrm>
          <a:prstGeom prst="ellipse">
            <a:avLst/>
          </a:prstGeom>
          <a:solidFill>
            <a:srgbClr val="0D1B3E"/>
          </a:solidFill>
          <a:ln w="12700">
            <a:solidFill>
              <a:srgbClr val="0D1B3E"/>
            </a:solidFill>
            <a:prstDash val="solid"/>
          </a:ln>
        </p:spPr>
      </p:sp>
      <p:sp>
        <p:nvSpPr>
          <p:cNvPr id="15" name="Text 12"/>
          <p:cNvSpPr/>
          <p:nvPr/>
        </p:nvSpPr>
        <p:spPr>
          <a:xfrm>
            <a:off x="228600" y="37490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p:nvPr/>
        </p:nvSpPr>
        <p:spPr>
          <a:xfrm>
            <a:off x="777240" y="3703320"/>
            <a:ext cx="4937760" cy="347472"/>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Why ML?</a:t>
            </a:r>
            <a:endParaRPr lang="en-US" sz="1400" dirty="0"/>
          </a:p>
        </p:txBody>
      </p:sp>
      <p:sp>
        <p:nvSpPr>
          <p:cNvPr id="17" name="Text 14"/>
          <p:cNvSpPr/>
          <p:nvPr/>
        </p:nvSpPr>
        <p:spPr>
          <a:xfrm>
            <a:off x="777240" y="4023360"/>
            <a:ext cx="4937760" cy="82296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Machine learning can learn patterns from thousands of historical grid scenarios and generalise to new, unseen inputs — far faster than rule-based systems.</a:t>
            </a:r>
            <a:endParaRPr lang="en-US" sz="1200" dirty="0"/>
          </a:p>
        </p:txBody>
      </p:sp>
      <p:sp>
        <p:nvSpPr>
          <p:cNvPr id="18" name="Shape 15"/>
          <p:cNvSpPr/>
          <p:nvPr/>
        </p:nvSpPr>
        <p:spPr>
          <a:xfrm>
            <a:off x="6035040" y="1097280"/>
            <a:ext cx="2834640" cy="3657600"/>
          </a:xfrm>
          <a:prstGeom prst="roundRect">
            <a:avLst>
              <a:gd name="adj" fmla="val 4839"/>
            </a:avLst>
          </a:prstGeom>
          <a:solidFill>
            <a:srgbClr val="0D1B3E"/>
          </a:solidFill>
          <a:ln w="12700">
            <a:solidFill>
              <a:srgbClr val="0D1B3E"/>
            </a:solidFill>
            <a:prstDash val="solid"/>
          </a:ln>
          <a:effectLst>
            <a:outerShdw sx="100000" sy="100000" kx="0" ky="0" algn="bl" rotWithShape="0" blurRad="101600" dist="38100" dir="2700000">
              <a:srgbClr val="000000">
                <a:alpha val="13000"/>
              </a:srgbClr>
            </a:outerShdw>
          </a:effectLst>
        </p:spPr>
      </p:sp>
      <p:sp>
        <p:nvSpPr>
          <p:cNvPr id="19" name="Text 16"/>
          <p:cNvSpPr/>
          <p:nvPr/>
        </p:nvSpPr>
        <p:spPr>
          <a:xfrm>
            <a:off x="6035040" y="1234440"/>
            <a:ext cx="2834640" cy="777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SmartGrid</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Guardian</a:t>
            </a:r>
            <a:endParaRPr lang="en-US" sz="1800" dirty="0"/>
          </a:p>
        </p:txBody>
      </p:sp>
      <p:sp>
        <p:nvSpPr>
          <p:cNvPr id="20" name="Text 17"/>
          <p:cNvSpPr/>
          <p:nvPr/>
        </p:nvSpPr>
        <p:spPr>
          <a:xfrm>
            <a:off x="6172200" y="2148840"/>
            <a:ext cx="2560320" cy="2377440"/>
          </a:xfrm>
          <a:prstGeom prst="rect">
            <a:avLst/>
          </a:prstGeom>
          <a:noFill/>
          <a:ln/>
        </p:spPr>
        <p:txBody>
          <a:bodyPr wrap="square" rtlCol="0" anchor="ctr"/>
          <a:lstStyle/>
          <a:p>
            <a:pPr indent="0" marL="0">
              <a:spcAft>
                <a:spcPts val="1000"/>
              </a:spcAft>
              <a:buNone/>
            </a:pPr>
            <a:r>
              <a:rPr lang="en-US" sz="1300" dirty="0">
                <a:solidFill>
                  <a:srgbClr val="93C5FD"/>
                </a:solidFill>
                <a:latin typeface="Calibri" pitchFamily="34" charset="0"/>
                <a:ea typeface="Calibri" pitchFamily="34" charset="-122"/>
                <a:cs typeface="Calibri" pitchFamily="34" charset="-120"/>
              </a:rPr>
              <a:t>⚡  Real-time predictions</a:t>
            </a:r>
            <a:endParaRPr lang="en-US" sz="1300" dirty="0"/>
          </a:p>
          <a:p>
            <a:pPr indent="0" marL="0">
              <a:spcAft>
                <a:spcPts val="1000"/>
              </a:spcAft>
              <a:buNone/>
            </a:pPr>
            <a:r>
              <a:rPr lang="en-US" sz="1300" dirty="0">
                <a:solidFill>
                  <a:srgbClr val="6EE7B7"/>
                </a:solidFill>
                <a:latin typeface="Calibri" pitchFamily="34" charset="0"/>
                <a:ea typeface="Calibri" pitchFamily="34" charset="-122"/>
                <a:cs typeface="Calibri" pitchFamily="34" charset="-120"/>
              </a:rPr>
              <a:t>🤖  4 ML models compared</a:t>
            </a:r>
            <a:endParaRPr lang="en-US" sz="1300" dirty="0"/>
          </a:p>
          <a:p>
            <a:pPr indent="0" marL="0">
              <a:spcAft>
                <a:spcPts val="1000"/>
              </a:spcAft>
              <a:buNone/>
            </a:pPr>
            <a:r>
              <a:rPr lang="en-US" sz="1300" dirty="0">
                <a:solidFill>
                  <a:srgbClr val="93C5FD"/>
                </a:solidFill>
                <a:latin typeface="Calibri" pitchFamily="34" charset="0"/>
                <a:ea typeface="Calibri" pitchFamily="34" charset="-122"/>
                <a:cs typeface="Calibri" pitchFamily="34" charset="-120"/>
              </a:rPr>
              <a:t>📊  Interactive dashboard</a:t>
            </a:r>
            <a:endParaRPr lang="en-US" sz="1300" dirty="0"/>
          </a:p>
          <a:p>
            <a:pPr indent="0" marL="0">
              <a:spcAft>
                <a:spcPts val="1000"/>
              </a:spcAft>
              <a:buNone/>
            </a:pPr>
            <a:r>
              <a:rPr lang="en-US" sz="1300" dirty="0">
                <a:solidFill>
                  <a:srgbClr val="6EE7B7"/>
                </a:solidFill>
                <a:latin typeface="Calibri" pitchFamily="34" charset="0"/>
                <a:ea typeface="Calibri" pitchFamily="34" charset="-122"/>
                <a:cs typeface="Calibri" pitchFamily="34" charset="-120"/>
              </a:rPr>
              <a:t>🌱  Supports SDG 7, 9, 11</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Dataset Overview</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10</a:t>
            </a:r>
            <a:endParaRPr lang="en-US" sz="900" dirty="0"/>
          </a:p>
        </p:txBody>
      </p:sp>
      <p:sp>
        <p:nvSpPr>
          <p:cNvPr id="6" name="Shape 3"/>
          <p:cNvSpPr/>
          <p:nvPr/>
        </p:nvSpPr>
        <p:spPr>
          <a:xfrm>
            <a:off x="228600" y="1097280"/>
            <a:ext cx="3657600" cy="960120"/>
          </a:xfrm>
          <a:prstGeom prst="roundRect">
            <a:avLst>
              <a:gd name="adj" fmla="val 9524"/>
            </a:avLst>
          </a:prstGeom>
          <a:solidFill>
            <a:srgbClr val="0D1B3E"/>
          </a:solidFill>
          <a:ln w="12700">
            <a:solidFill>
              <a:srgbClr val="0D1B3E"/>
            </a:solidFill>
            <a:prstDash val="solid"/>
          </a:ln>
        </p:spPr>
      </p:sp>
      <p:sp>
        <p:nvSpPr>
          <p:cNvPr id="7" name="Text 4"/>
          <p:cNvSpPr/>
          <p:nvPr/>
        </p:nvSpPr>
        <p:spPr>
          <a:xfrm>
            <a:off x="365760" y="1143000"/>
            <a:ext cx="3383280" cy="8229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Smart Grid Stability Dataset</a:t>
            </a:r>
            <a:endParaRPr lang="en-US" sz="1300" dirty="0"/>
          </a:p>
          <a:p>
            <a:pPr indent="0" marL="0">
              <a:buNone/>
            </a:pPr>
            <a:r>
              <a:rPr lang="en-US" sz="1100" dirty="0">
                <a:solidFill>
                  <a:srgbClr val="93C5FD"/>
                </a:solidFill>
                <a:latin typeface="Calibri" pitchFamily="34" charset="0"/>
                <a:ea typeface="Calibri" pitchFamily="34" charset="-122"/>
                <a:cs typeface="Calibri" pitchFamily="34" charset="-120"/>
              </a:rPr>
              <a:t>10,000 simulation instances  |  12 input features  |  Binary output</a:t>
            </a:r>
            <a:endParaRPr lang="en-US" sz="1300" dirty="0"/>
          </a:p>
        </p:txBody>
      </p:sp>
      <p:sp>
        <p:nvSpPr>
          <p:cNvPr id="8" name="Shape 5"/>
          <p:cNvSpPr/>
          <p:nvPr/>
        </p:nvSpPr>
        <p:spPr>
          <a:xfrm>
            <a:off x="228600" y="2240280"/>
            <a:ext cx="2743200" cy="2560320"/>
          </a:xfrm>
          <a:prstGeom prst="roundRect">
            <a:avLst>
              <a:gd name="adj" fmla="val 3571"/>
            </a:avLst>
          </a:prstGeom>
          <a:solidFill>
            <a:srgbClr val="EFF6FF"/>
          </a:solidFill>
          <a:ln w="15240">
            <a:solidFill>
              <a:srgbClr val="BFDBFE"/>
            </a:solidFill>
            <a:prstDash val="solid"/>
          </a:ln>
        </p:spPr>
      </p:sp>
      <p:sp>
        <p:nvSpPr>
          <p:cNvPr id="9" name="Text 6"/>
          <p:cNvSpPr/>
          <p:nvPr/>
        </p:nvSpPr>
        <p:spPr>
          <a:xfrm>
            <a:off x="320040" y="2286000"/>
            <a:ext cx="2560320" cy="411480"/>
          </a:xfrm>
          <a:prstGeom prst="rect">
            <a:avLst/>
          </a:prstGeom>
          <a:noFill/>
          <a:ln/>
        </p:spPr>
        <p:txBody>
          <a:bodyPr wrap="square"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τ  (Tau) — Response Time</a:t>
            </a:r>
            <a:endParaRPr lang="en-US" sz="1200" dirty="0"/>
          </a:p>
        </p:txBody>
      </p:sp>
      <p:sp>
        <p:nvSpPr>
          <p:cNvPr id="10" name="Text 7"/>
          <p:cNvSpPr/>
          <p:nvPr/>
        </p:nvSpPr>
        <p:spPr>
          <a:xfrm>
            <a:off x="320040" y="2743200"/>
            <a:ext cx="2560320" cy="19202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τ1 – Grid producer response time</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τ2, τ3, τ4 – Consumer response times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Range: 0.5 to 10 seconds</a:t>
            </a:r>
            <a:endParaRPr lang="en-US" sz="1100" dirty="0"/>
          </a:p>
        </p:txBody>
      </p:sp>
      <p:sp>
        <p:nvSpPr>
          <p:cNvPr id="11" name="Shape 8"/>
          <p:cNvSpPr/>
          <p:nvPr/>
        </p:nvSpPr>
        <p:spPr>
          <a:xfrm>
            <a:off x="3154680" y="2240280"/>
            <a:ext cx="2743200" cy="2560320"/>
          </a:xfrm>
          <a:prstGeom prst="roundRect">
            <a:avLst>
              <a:gd name="adj" fmla="val 3571"/>
            </a:avLst>
          </a:prstGeom>
          <a:solidFill>
            <a:srgbClr val="ECFDF5"/>
          </a:solidFill>
          <a:ln w="15240">
            <a:solidFill>
              <a:srgbClr val="A7F3D0"/>
            </a:solidFill>
            <a:prstDash val="solid"/>
          </a:ln>
        </p:spPr>
      </p:sp>
      <p:sp>
        <p:nvSpPr>
          <p:cNvPr id="12" name="Text 9"/>
          <p:cNvSpPr/>
          <p:nvPr/>
        </p:nvSpPr>
        <p:spPr>
          <a:xfrm>
            <a:off x="3246120" y="2286000"/>
            <a:ext cx="2560320" cy="411480"/>
          </a:xfrm>
          <a:prstGeom prst="rect">
            <a:avLst/>
          </a:prstGeom>
          <a:noFill/>
          <a:ln/>
        </p:spPr>
        <p:txBody>
          <a:bodyPr wrap="square"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p  — Power Values</a:t>
            </a:r>
            <a:endParaRPr lang="en-US" sz="1200" dirty="0"/>
          </a:p>
        </p:txBody>
      </p:sp>
      <p:sp>
        <p:nvSpPr>
          <p:cNvPr id="13" name="Text 10"/>
          <p:cNvSpPr/>
          <p:nvPr/>
        </p:nvSpPr>
        <p:spPr>
          <a:xfrm>
            <a:off x="3246120" y="2743200"/>
            <a:ext cx="2560320" cy="19202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p1 – Power generated by producer</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p2, p3, p4 – Power consumed</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Positive = generation, Negative = consumption</a:t>
            </a:r>
            <a:endParaRPr lang="en-US" sz="1100" dirty="0"/>
          </a:p>
        </p:txBody>
      </p:sp>
      <p:sp>
        <p:nvSpPr>
          <p:cNvPr id="14" name="Shape 11"/>
          <p:cNvSpPr/>
          <p:nvPr/>
        </p:nvSpPr>
        <p:spPr>
          <a:xfrm>
            <a:off x="6080760" y="2240280"/>
            <a:ext cx="2743200" cy="2560320"/>
          </a:xfrm>
          <a:prstGeom prst="roundRect">
            <a:avLst>
              <a:gd name="adj" fmla="val 3571"/>
            </a:avLst>
          </a:prstGeom>
          <a:solidFill>
            <a:srgbClr val="FFF7ED"/>
          </a:solidFill>
          <a:ln w="15240">
            <a:solidFill>
              <a:srgbClr val="FDE68A"/>
            </a:solidFill>
            <a:prstDash val="solid"/>
          </a:ln>
        </p:spPr>
      </p:sp>
      <p:sp>
        <p:nvSpPr>
          <p:cNvPr id="15" name="Text 12"/>
          <p:cNvSpPr/>
          <p:nvPr/>
        </p:nvSpPr>
        <p:spPr>
          <a:xfrm>
            <a:off x="6172200" y="2286000"/>
            <a:ext cx="2560320" cy="411480"/>
          </a:xfrm>
          <a:prstGeom prst="rect">
            <a:avLst/>
          </a:prstGeom>
          <a:noFill/>
          <a:ln/>
        </p:spPr>
        <p:txBody>
          <a:bodyPr wrap="square"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g  — Elasticity Coefficients</a:t>
            </a:r>
            <a:endParaRPr lang="en-US" sz="1200" dirty="0"/>
          </a:p>
        </p:txBody>
      </p:sp>
      <p:sp>
        <p:nvSpPr>
          <p:cNvPr id="16" name="Text 13"/>
          <p:cNvSpPr/>
          <p:nvPr/>
        </p:nvSpPr>
        <p:spPr>
          <a:xfrm>
            <a:off x="6172200" y="2743200"/>
            <a:ext cx="2560320" cy="19202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g1–g4 – Price sensitivity of each node</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Controls demand-response behaviour</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Range: 0.05 to 1.0</a:t>
            </a:r>
            <a:endParaRPr lang="en-US" sz="1100" dirty="0"/>
          </a:p>
        </p:txBody>
      </p:sp>
      <p:sp>
        <p:nvSpPr>
          <p:cNvPr id="17" name="Shape 14"/>
          <p:cNvSpPr/>
          <p:nvPr/>
        </p:nvSpPr>
        <p:spPr>
          <a:xfrm>
            <a:off x="228600" y="4709160"/>
            <a:ext cx="8686800" cy="347472"/>
          </a:xfrm>
          <a:prstGeom prst="roundRect">
            <a:avLst>
              <a:gd name="adj" fmla="val 21053"/>
            </a:avLst>
          </a:prstGeom>
          <a:solidFill>
            <a:srgbClr val="0D1B3E"/>
          </a:solidFill>
          <a:ln w="12700">
            <a:solidFill>
              <a:srgbClr val="0D1B3E"/>
            </a:solidFill>
            <a:prstDash val="solid"/>
          </a:ln>
        </p:spPr>
      </p:sp>
      <p:sp>
        <p:nvSpPr>
          <p:cNvPr id="18" name="Text 15"/>
          <p:cNvSpPr/>
          <p:nvPr/>
        </p:nvSpPr>
        <p:spPr>
          <a:xfrm>
            <a:off x="228600" y="4709160"/>
            <a:ext cx="868680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 (Target):  </a:t>
            </a:r>
            <a:pPr algn="ctr" indent="0" marL="0">
              <a:buNone/>
            </a:pPr>
            <a:r>
              <a:rPr lang="en-US" sz="1300" b="1" dirty="0">
                <a:solidFill>
                  <a:srgbClr val="6EE7B7"/>
                </a:solidFill>
                <a:latin typeface="Calibri" pitchFamily="34" charset="0"/>
                <a:ea typeface="Calibri" pitchFamily="34" charset="-122"/>
                <a:cs typeface="Calibri" pitchFamily="34" charset="-120"/>
              </a:rPr>
              <a:t>stabf = STABLE  </a:t>
            </a:r>
            <a:pPr algn="ctr" indent="0" marL="0">
              <a:buNone/>
            </a:pPr>
            <a:r>
              <a:rPr lang="en-US" sz="1300" dirty="0">
                <a:solidFill>
                  <a:srgbClr val="93C5FD"/>
                </a:solidFill>
                <a:latin typeface="Calibri" pitchFamily="34" charset="0"/>
                <a:ea typeface="Calibri" pitchFamily="34" charset="-122"/>
                <a:cs typeface="Calibri" pitchFamily="34" charset="-120"/>
              </a:rPr>
              <a:t>  or  </a:t>
            </a:r>
            <a:pPr algn="ctr" indent="0" marL="0">
              <a:buNone/>
            </a:pPr>
            <a:r>
              <a:rPr lang="en-US" sz="1300" b="1" dirty="0">
                <a:solidFill>
                  <a:srgbClr val="FCA5A5"/>
                </a:solidFill>
                <a:latin typeface="Calibri" pitchFamily="34" charset="0"/>
                <a:ea typeface="Calibri" pitchFamily="34" charset="-122"/>
                <a:cs typeface="Calibri" pitchFamily="34" charset="-120"/>
              </a:rPr>
              <a:t>  stabf = UNSTABLE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10</a:t>
            </a:r>
            <a:endParaRPr lang="en-US" sz="900" dirty="0"/>
          </a:p>
        </p:txBody>
      </p:sp>
      <p:sp>
        <p:nvSpPr>
          <p:cNvPr id="6" name="Shape 3"/>
          <p:cNvSpPr/>
          <p:nvPr/>
        </p:nvSpPr>
        <p:spPr>
          <a:xfrm>
            <a:off x="228600" y="1143000"/>
            <a:ext cx="1261872" cy="658368"/>
          </a:xfrm>
          <a:prstGeom prst="roundRect">
            <a:avLst>
              <a:gd name="adj" fmla="val 13889"/>
            </a:avLst>
          </a:prstGeom>
          <a:solidFill>
            <a:srgbClr val="0D1B3E"/>
          </a:solidFill>
          <a:ln w="12700">
            <a:solidFill>
              <a:srgbClr val="0D1B3E"/>
            </a:solidFill>
            <a:prstDash val="solid"/>
          </a:ln>
          <a:effectLst>
            <a:outerShdw sx="100000" sy="100000" kx="0" ky="0" algn="bl" rotWithShape="0" blurRad="101600" dist="38100" dir="2700000">
              <a:srgbClr val="000000">
                <a:alpha val="13000"/>
              </a:srgbClr>
            </a:outerShdw>
          </a:effectLst>
        </p:spPr>
      </p:sp>
      <p:sp>
        <p:nvSpPr>
          <p:cNvPr id="7" name="Text 4"/>
          <p:cNvSpPr/>
          <p:nvPr/>
        </p:nvSpPr>
        <p:spPr>
          <a:xfrm>
            <a:off x="228600" y="1179576"/>
            <a:ext cx="126187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Grid Parameters</a:t>
            </a:r>
            <a:endParaRPr lang="en-US" sz="1050" dirty="0"/>
          </a:p>
        </p:txBody>
      </p:sp>
      <p:sp>
        <p:nvSpPr>
          <p:cNvPr id="8" name="Text 5"/>
          <p:cNvSpPr/>
          <p:nvPr/>
        </p:nvSpPr>
        <p:spPr>
          <a:xfrm>
            <a:off x="228600" y="1490472"/>
            <a:ext cx="1261872" cy="274320"/>
          </a:xfrm>
          <a:prstGeom prst="rect">
            <a:avLst/>
          </a:prstGeom>
          <a:noFill/>
          <a:ln/>
        </p:spPr>
        <p:txBody>
          <a:bodyPr wrap="square" rtlCol="0" anchor="ctr"/>
          <a:lstStyle/>
          <a:p>
            <a:pPr algn="ctr" indent="0" marL="0">
              <a:buNone/>
            </a:pPr>
            <a:r>
              <a:rPr lang="en-US" sz="900" dirty="0">
                <a:solidFill>
                  <a:srgbClr val="D1FAE5"/>
                </a:solidFill>
                <a:latin typeface="Calibri" pitchFamily="34" charset="0"/>
                <a:ea typeface="Calibri" pitchFamily="34" charset="-122"/>
                <a:cs typeface="Calibri" pitchFamily="34" charset="-120"/>
              </a:rPr>
              <a:t>12 inputs (τ, p, g)</a:t>
            </a:r>
            <a:endParaRPr lang="en-US" sz="900" dirty="0"/>
          </a:p>
        </p:txBody>
      </p:sp>
      <p:sp>
        <p:nvSpPr>
          <p:cNvPr id="9" name="Shape 6"/>
          <p:cNvSpPr/>
          <p:nvPr/>
        </p:nvSpPr>
        <p:spPr>
          <a:xfrm>
            <a:off x="1490472" y="1472184"/>
            <a:ext cx="128016" cy="0"/>
          </a:xfrm>
          <a:prstGeom prst="line">
            <a:avLst/>
          </a:prstGeom>
          <a:noFill/>
          <a:ln w="19050">
            <a:solidFill>
              <a:srgbClr val="94A3B8"/>
            </a:solidFill>
            <a:prstDash val="dash"/>
          </a:ln>
        </p:spPr>
      </p:sp>
      <p:sp>
        <p:nvSpPr>
          <p:cNvPr id="10" name="Text 7"/>
          <p:cNvSpPr/>
          <p:nvPr/>
        </p:nvSpPr>
        <p:spPr>
          <a:xfrm>
            <a:off x="1463040" y="1362456"/>
            <a:ext cx="182880" cy="2286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11" name="Shape 8"/>
          <p:cNvSpPr/>
          <p:nvPr/>
        </p:nvSpPr>
        <p:spPr>
          <a:xfrm>
            <a:off x="1618488" y="1143000"/>
            <a:ext cx="1261872" cy="658368"/>
          </a:xfrm>
          <a:prstGeom prst="roundRect">
            <a:avLst>
              <a:gd name="adj" fmla="val 13889"/>
            </a:avLst>
          </a:prstGeom>
          <a:solidFill>
            <a:srgbClr val="1A56DB"/>
          </a:solidFill>
          <a:ln w="12700">
            <a:solidFill>
              <a:srgbClr val="1A56DB"/>
            </a:solidFill>
            <a:prstDash val="solid"/>
          </a:ln>
          <a:effectLst>
            <a:outerShdw sx="100000" sy="100000" kx="0" ky="0" algn="bl" rotWithShape="0" blurRad="101600" dist="38100" dir="2700000">
              <a:srgbClr val="000000">
                <a:alpha val="13000"/>
              </a:srgbClr>
            </a:outerShdw>
          </a:effectLst>
        </p:spPr>
      </p:sp>
      <p:sp>
        <p:nvSpPr>
          <p:cNvPr id="12" name="Text 9"/>
          <p:cNvSpPr/>
          <p:nvPr/>
        </p:nvSpPr>
        <p:spPr>
          <a:xfrm>
            <a:off x="1618488" y="1179576"/>
            <a:ext cx="126187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 Preprocessing</a:t>
            </a:r>
            <a:endParaRPr lang="en-US" sz="1050" dirty="0"/>
          </a:p>
        </p:txBody>
      </p:sp>
      <p:sp>
        <p:nvSpPr>
          <p:cNvPr id="13" name="Text 10"/>
          <p:cNvSpPr/>
          <p:nvPr/>
        </p:nvSpPr>
        <p:spPr>
          <a:xfrm>
            <a:off x="1618488" y="1490472"/>
            <a:ext cx="1261872" cy="274320"/>
          </a:xfrm>
          <a:prstGeom prst="rect">
            <a:avLst/>
          </a:prstGeom>
          <a:noFill/>
          <a:ln/>
        </p:spPr>
        <p:txBody>
          <a:bodyPr wrap="square" rtlCol="0" anchor="ctr"/>
          <a:lstStyle/>
          <a:p>
            <a:pPr algn="ctr" indent="0" marL="0">
              <a:buNone/>
            </a:pPr>
            <a:r>
              <a:rPr lang="en-US" sz="900" dirty="0">
                <a:solidFill>
                  <a:srgbClr val="D1FAE5"/>
                </a:solidFill>
                <a:latin typeface="Calibri" pitchFamily="34" charset="0"/>
                <a:ea typeface="Calibri" pitchFamily="34" charset="-122"/>
                <a:cs typeface="Calibri" pitchFamily="34" charset="-120"/>
              </a:rPr>
              <a:t>Scaling, cleaning, splitting</a:t>
            </a:r>
            <a:endParaRPr lang="en-US" sz="900" dirty="0"/>
          </a:p>
        </p:txBody>
      </p:sp>
      <p:sp>
        <p:nvSpPr>
          <p:cNvPr id="14" name="Shape 11"/>
          <p:cNvSpPr/>
          <p:nvPr/>
        </p:nvSpPr>
        <p:spPr>
          <a:xfrm>
            <a:off x="2880360" y="1472184"/>
            <a:ext cx="128016" cy="0"/>
          </a:xfrm>
          <a:prstGeom prst="line">
            <a:avLst/>
          </a:prstGeom>
          <a:noFill/>
          <a:ln w="19050">
            <a:solidFill>
              <a:srgbClr val="94A3B8"/>
            </a:solidFill>
            <a:prstDash val="dash"/>
          </a:ln>
        </p:spPr>
      </p:sp>
      <p:sp>
        <p:nvSpPr>
          <p:cNvPr id="15" name="Text 12"/>
          <p:cNvSpPr/>
          <p:nvPr/>
        </p:nvSpPr>
        <p:spPr>
          <a:xfrm>
            <a:off x="2852928" y="1362456"/>
            <a:ext cx="182880" cy="2286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16" name="Shape 13"/>
          <p:cNvSpPr/>
          <p:nvPr/>
        </p:nvSpPr>
        <p:spPr>
          <a:xfrm>
            <a:off x="3008376" y="1143000"/>
            <a:ext cx="1261872" cy="658368"/>
          </a:xfrm>
          <a:prstGeom prst="roundRect">
            <a:avLst>
              <a:gd name="adj" fmla="val 13889"/>
            </a:avLst>
          </a:prstGeom>
          <a:solidFill>
            <a:srgbClr val="0891B2"/>
          </a:solidFill>
          <a:ln w="12700">
            <a:solidFill>
              <a:srgbClr val="0891B2"/>
            </a:solidFill>
            <a:prstDash val="solid"/>
          </a:ln>
          <a:effectLst>
            <a:outerShdw sx="100000" sy="100000" kx="0" ky="0" algn="bl" rotWithShape="0" blurRad="101600" dist="38100" dir="2700000">
              <a:srgbClr val="000000">
                <a:alpha val="13000"/>
              </a:srgbClr>
            </a:outerShdw>
          </a:effectLst>
        </p:spPr>
      </p:sp>
      <p:sp>
        <p:nvSpPr>
          <p:cNvPr id="17" name="Text 14"/>
          <p:cNvSpPr/>
          <p:nvPr/>
        </p:nvSpPr>
        <p:spPr>
          <a:xfrm>
            <a:off x="3008376" y="1179576"/>
            <a:ext cx="126187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ML Model Training</a:t>
            </a:r>
            <a:endParaRPr lang="en-US" sz="1050" dirty="0"/>
          </a:p>
        </p:txBody>
      </p:sp>
      <p:sp>
        <p:nvSpPr>
          <p:cNvPr id="18" name="Text 15"/>
          <p:cNvSpPr/>
          <p:nvPr/>
        </p:nvSpPr>
        <p:spPr>
          <a:xfrm>
            <a:off x="3008376" y="1490472"/>
            <a:ext cx="1261872" cy="274320"/>
          </a:xfrm>
          <a:prstGeom prst="rect">
            <a:avLst/>
          </a:prstGeom>
          <a:noFill/>
          <a:ln/>
        </p:spPr>
        <p:txBody>
          <a:bodyPr wrap="square" rtlCol="0" anchor="ctr"/>
          <a:lstStyle/>
          <a:p>
            <a:pPr algn="ctr" indent="0" marL="0">
              <a:buNone/>
            </a:pPr>
            <a:r>
              <a:rPr lang="en-US" sz="900" dirty="0">
                <a:solidFill>
                  <a:srgbClr val="D1FAE5"/>
                </a:solidFill>
                <a:latin typeface="Calibri" pitchFamily="34" charset="0"/>
                <a:ea typeface="Calibri" pitchFamily="34" charset="-122"/>
                <a:cs typeface="Calibri" pitchFamily="34" charset="-120"/>
              </a:rPr>
              <a:t>LR · DT · RF · XGBoost</a:t>
            </a:r>
            <a:endParaRPr lang="en-US" sz="900" dirty="0"/>
          </a:p>
        </p:txBody>
      </p:sp>
      <p:sp>
        <p:nvSpPr>
          <p:cNvPr id="19" name="Shape 16"/>
          <p:cNvSpPr/>
          <p:nvPr/>
        </p:nvSpPr>
        <p:spPr>
          <a:xfrm>
            <a:off x="4270248" y="1472184"/>
            <a:ext cx="128016" cy="0"/>
          </a:xfrm>
          <a:prstGeom prst="line">
            <a:avLst/>
          </a:prstGeom>
          <a:noFill/>
          <a:ln w="19050">
            <a:solidFill>
              <a:srgbClr val="94A3B8"/>
            </a:solidFill>
            <a:prstDash val="dash"/>
          </a:ln>
        </p:spPr>
      </p:sp>
      <p:sp>
        <p:nvSpPr>
          <p:cNvPr id="20" name="Text 17"/>
          <p:cNvSpPr/>
          <p:nvPr/>
        </p:nvSpPr>
        <p:spPr>
          <a:xfrm>
            <a:off x="4242816" y="1362456"/>
            <a:ext cx="182880" cy="2286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21" name="Shape 18"/>
          <p:cNvSpPr/>
          <p:nvPr/>
        </p:nvSpPr>
        <p:spPr>
          <a:xfrm>
            <a:off x="4398264" y="1143000"/>
            <a:ext cx="1261872" cy="658368"/>
          </a:xfrm>
          <a:prstGeom prst="roundRect">
            <a:avLst>
              <a:gd name="adj" fmla="val 13889"/>
            </a:avLst>
          </a:prstGeom>
          <a:solidFill>
            <a:srgbClr val="059669"/>
          </a:solidFill>
          <a:ln w="12700">
            <a:solidFill>
              <a:srgbClr val="059669"/>
            </a:solidFill>
            <a:prstDash val="solid"/>
          </a:ln>
          <a:effectLst>
            <a:outerShdw sx="100000" sy="100000" kx="0" ky="0" algn="bl" rotWithShape="0" blurRad="101600" dist="38100" dir="2700000">
              <a:srgbClr val="000000">
                <a:alpha val="13000"/>
              </a:srgbClr>
            </a:outerShdw>
          </a:effectLst>
        </p:spPr>
      </p:sp>
      <p:sp>
        <p:nvSpPr>
          <p:cNvPr id="22" name="Text 19"/>
          <p:cNvSpPr/>
          <p:nvPr/>
        </p:nvSpPr>
        <p:spPr>
          <a:xfrm>
            <a:off x="4398264" y="1179576"/>
            <a:ext cx="126187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Best Model Selection</a:t>
            </a:r>
            <a:endParaRPr lang="en-US" sz="1050" dirty="0"/>
          </a:p>
        </p:txBody>
      </p:sp>
      <p:sp>
        <p:nvSpPr>
          <p:cNvPr id="23" name="Text 20"/>
          <p:cNvSpPr/>
          <p:nvPr/>
        </p:nvSpPr>
        <p:spPr>
          <a:xfrm>
            <a:off x="4398264" y="1490472"/>
            <a:ext cx="1261872" cy="274320"/>
          </a:xfrm>
          <a:prstGeom prst="rect">
            <a:avLst/>
          </a:prstGeom>
          <a:noFill/>
          <a:ln/>
        </p:spPr>
        <p:txBody>
          <a:bodyPr wrap="square" rtlCol="0" anchor="ctr"/>
          <a:lstStyle/>
          <a:p>
            <a:pPr algn="ctr" indent="0" marL="0">
              <a:buNone/>
            </a:pPr>
            <a:r>
              <a:rPr lang="en-US" sz="900" dirty="0">
                <a:solidFill>
                  <a:srgbClr val="D1FAE5"/>
                </a:solidFill>
                <a:latin typeface="Calibri" pitchFamily="34" charset="0"/>
                <a:ea typeface="Calibri" pitchFamily="34" charset="-122"/>
                <a:cs typeface="Calibri" pitchFamily="34" charset="-120"/>
              </a:rPr>
              <a:t>XGBoost (highest accuracy)</a:t>
            </a:r>
            <a:endParaRPr lang="en-US" sz="900" dirty="0"/>
          </a:p>
        </p:txBody>
      </p:sp>
      <p:sp>
        <p:nvSpPr>
          <p:cNvPr id="24" name="Shape 21"/>
          <p:cNvSpPr/>
          <p:nvPr/>
        </p:nvSpPr>
        <p:spPr>
          <a:xfrm>
            <a:off x="5660136" y="1472184"/>
            <a:ext cx="128016" cy="0"/>
          </a:xfrm>
          <a:prstGeom prst="line">
            <a:avLst/>
          </a:prstGeom>
          <a:noFill/>
          <a:ln w="19050">
            <a:solidFill>
              <a:srgbClr val="94A3B8"/>
            </a:solidFill>
            <a:prstDash val="dash"/>
          </a:ln>
        </p:spPr>
      </p:sp>
      <p:sp>
        <p:nvSpPr>
          <p:cNvPr id="25" name="Text 22"/>
          <p:cNvSpPr/>
          <p:nvPr/>
        </p:nvSpPr>
        <p:spPr>
          <a:xfrm>
            <a:off x="5632704" y="1362456"/>
            <a:ext cx="182880" cy="2286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26" name="Shape 23"/>
          <p:cNvSpPr/>
          <p:nvPr/>
        </p:nvSpPr>
        <p:spPr>
          <a:xfrm>
            <a:off x="5788152" y="1143000"/>
            <a:ext cx="1261872" cy="658368"/>
          </a:xfrm>
          <a:prstGeom prst="roundRect">
            <a:avLst>
              <a:gd name="adj" fmla="val 13889"/>
            </a:avLst>
          </a:prstGeom>
          <a:solidFill>
            <a:srgbClr val="7C3AED"/>
          </a:solidFill>
          <a:ln w="12700">
            <a:solidFill>
              <a:srgbClr val="7C3AED"/>
            </a:solidFill>
            <a:prstDash val="solid"/>
          </a:ln>
          <a:effectLst>
            <a:outerShdw sx="100000" sy="100000" kx="0" ky="0" algn="bl" rotWithShape="0" blurRad="101600" dist="38100" dir="2700000">
              <a:srgbClr val="000000">
                <a:alpha val="13000"/>
              </a:srgbClr>
            </a:outerShdw>
          </a:effectLst>
        </p:spPr>
      </p:sp>
      <p:sp>
        <p:nvSpPr>
          <p:cNvPr id="27" name="Text 24"/>
          <p:cNvSpPr/>
          <p:nvPr/>
        </p:nvSpPr>
        <p:spPr>
          <a:xfrm>
            <a:off x="5788152" y="1179576"/>
            <a:ext cx="126187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Stability Prediction</a:t>
            </a:r>
            <a:endParaRPr lang="en-US" sz="1050" dirty="0"/>
          </a:p>
        </p:txBody>
      </p:sp>
      <p:sp>
        <p:nvSpPr>
          <p:cNvPr id="28" name="Text 25"/>
          <p:cNvSpPr/>
          <p:nvPr/>
        </p:nvSpPr>
        <p:spPr>
          <a:xfrm>
            <a:off x="5788152" y="1490472"/>
            <a:ext cx="1261872" cy="274320"/>
          </a:xfrm>
          <a:prstGeom prst="rect">
            <a:avLst/>
          </a:prstGeom>
          <a:noFill/>
          <a:ln/>
        </p:spPr>
        <p:txBody>
          <a:bodyPr wrap="square" rtlCol="0" anchor="ctr"/>
          <a:lstStyle/>
          <a:p>
            <a:pPr algn="ctr" indent="0" marL="0">
              <a:buNone/>
            </a:pPr>
            <a:r>
              <a:rPr lang="en-US" sz="900" dirty="0">
                <a:solidFill>
                  <a:srgbClr val="D1FAE5"/>
                </a:solidFill>
                <a:latin typeface="Calibri" pitchFamily="34" charset="0"/>
                <a:ea typeface="Calibri" pitchFamily="34" charset="-122"/>
                <a:cs typeface="Calibri" pitchFamily="34" charset="-120"/>
              </a:rPr>
              <a:t>Stable / Unstable</a:t>
            </a:r>
            <a:endParaRPr lang="en-US" sz="900" dirty="0"/>
          </a:p>
        </p:txBody>
      </p:sp>
      <p:sp>
        <p:nvSpPr>
          <p:cNvPr id="29" name="Shape 26"/>
          <p:cNvSpPr/>
          <p:nvPr/>
        </p:nvSpPr>
        <p:spPr>
          <a:xfrm>
            <a:off x="7050024" y="1472184"/>
            <a:ext cx="128016" cy="0"/>
          </a:xfrm>
          <a:prstGeom prst="line">
            <a:avLst/>
          </a:prstGeom>
          <a:noFill/>
          <a:ln w="19050">
            <a:solidFill>
              <a:srgbClr val="94A3B8"/>
            </a:solidFill>
            <a:prstDash val="dash"/>
          </a:ln>
        </p:spPr>
      </p:sp>
      <p:sp>
        <p:nvSpPr>
          <p:cNvPr id="30" name="Text 27"/>
          <p:cNvSpPr/>
          <p:nvPr/>
        </p:nvSpPr>
        <p:spPr>
          <a:xfrm>
            <a:off x="7022592" y="1362456"/>
            <a:ext cx="182880" cy="2286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31" name="Shape 28"/>
          <p:cNvSpPr/>
          <p:nvPr/>
        </p:nvSpPr>
        <p:spPr>
          <a:xfrm>
            <a:off x="7178040" y="1143000"/>
            <a:ext cx="1261872" cy="658368"/>
          </a:xfrm>
          <a:prstGeom prst="roundRect">
            <a:avLst>
              <a:gd name="adj" fmla="val 13889"/>
            </a:avLst>
          </a:prstGeom>
          <a:solidFill>
            <a:srgbClr val="DC2626"/>
          </a:solidFill>
          <a:ln w="12700">
            <a:solidFill>
              <a:srgbClr val="DC2626"/>
            </a:solidFill>
            <a:prstDash val="solid"/>
          </a:ln>
          <a:effectLst>
            <a:outerShdw sx="100000" sy="100000" kx="0" ky="0" algn="bl" rotWithShape="0" blurRad="101600" dist="38100" dir="2700000">
              <a:srgbClr val="000000">
                <a:alpha val="13000"/>
              </a:srgbClr>
            </a:outerShdw>
          </a:effectLst>
        </p:spPr>
      </p:sp>
      <p:sp>
        <p:nvSpPr>
          <p:cNvPr id="32" name="Text 29"/>
          <p:cNvSpPr/>
          <p:nvPr/>
        </p:nvSpPr>
        <p:spPr>
          <a:xfrm>
            <a:off x="7178040" y="1179576"/>
            <a:ext cx="126187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Streamlit Dashboard</a:t>
            </a:r>
            <a:endParaRPr lang="en-US" sz="1050" dirty="0"/>
          </a:p>
        </p:txBody>
      </p:sp>
      <p:sp>
        <p:nvSpPr>
          <p:cNvPr id="33" name="Text 30"/>
          <p:cNvSpPr/>
          <p:nvPr/>
        </p:nvSpPr>
        <p:spPr>
          <a:xfrm>
            <a:off x="7178040" y="1490472"/>
            <a:ext cx="1261872" cy="274320"/>
          </a:xfrm>
          <a:prstGeom prst="rect">
            <a:avLst/>
          </a:prstGeom>
          <a:noFill/>
          <a:ln/>
        </p:spPr>
        <p:txBody>
          <a:bodyPr wrap="square" rtlCol="0" anchor="ctr"/>
          <a:lstStyle/>
          <a:p>
            <a:pPr algn="ctr" indent="0" marL="0">
              <a:buNone/>
            </a:pPr>
            <a:r>
              <a:rPr lang="en-US" sz="900" dirty="0">
                <a:solidFill>
                  <a:srgbClr val="D1FAE5"/>
                </a:solidFill>
                <a:latin typeface="Calibri" pitchFamily="34" charset="0"/>
                <a:ea typeface="Calibri" pitchFamily="34" charset="-122"/>
                <a:cs typeface="Calibri" pitchFamily="34" charset="-120"/>
              </a:rPr>
              <a:t>User interface &amp; risk output</a:t>
            </a:r>
            <a:endParaRPr lang="en-US" sz="900" dirty="0"/>
          </a:p>
        </p:txBody>
      </p:sp>
      <p:sp>
        <p:nvSpPr>
          <p:cNvPr id="34" name="Shape 31"/>
          <p:cNvSpPr/>
          <p:nvPr/>
        </p:nvSpPr>
        <p:spPr>
          <a:xfrm>
            <a:off x="228600" y="2057400"/>
            <a:ext cx="4206240" cy="2926080"/>
          </a:xfrm>
          <a:prstGeom prst="roundRect">
            <a:avLst>
              <a:gd name="adj" fmla="val 3125"/>
            </a:avLst>
          </a:prstGeom>
          <a:solidFill>
            <a:srgbClr val="EFF6FF"/>
          </a:solidFill>
          <a:ln w="10160">
            <a:solidFill>
              <a:srgbClr val="E2E8F0"/>
            </a:solidFill>
            <a:prstDash val="solid"/>
          </a:ln>
        </p:spPr>
      </p:sp>
      <p:sp>
        <p:nvSpPr>
          <p:cNvPr id="35" name="Text 32"/>
          <p:cNvSpPr/>
          <p:nvPr/>
        </p:nvSpPr>
        <p:spPr>
          <a:xfrm>
            <a:off x="365760" y="2148840"/>
            <a:ext cx="3931920" cy="384048"/>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Training Phase (Offline)</a:t>
            </a:r>
            <a:endParaRPr lang="en-US" sz="1300" dirty="0"/>
          </a:p>
        </p:txBody>
      </p:sp>
      <p:sp>
        <p:nvSpPr>
          <p:cNvPr id="36" name="Text 33"/>
          <p:cNvSpPr/>
          <p:nvPr/>
        </p:nvSpPr>
        <p:spPr>
          <a:xfrm>
            <a:off x="365760" y="2514600"/>
            <a:ext cx="3931920" cy="233172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Dataset loaded → preprocessed → 4 ML models trained → evaluated → best model (XGBoost) saved as .pkl file.</a:t>
            </a:r>
            <a:endParaRPr lang="en-US" sz="1200" dirty="0"/>
          </a:p>
        </p:txBody>
      </p:sp>
      <p:sp>
        <p:nvSpPr>
          <p:cNvPr id="37" name="Shape 34"/>
          <p:cNvSpPr/>
          <p:nvPr/>
        </p:nvSpPr>
        <p:spPr>
          <a:xfrm>
            <a:off x="4663440" y="2057400"/>
            <a:ext cx="4206240" cy="2926080"/>
          </a:xfrm>
          <a:prstGeom prst="roundRect">
            <a:avLst>
              <a:gd name="adj" fmla="val 3125"/>
            </a:avLst>
          </a:prstGeom>
          <a:solidFill>
            <a:srgbClr val="ECFDF5"/>
          </a:solidFill>
          <a:ln w="10160">
            <a:solidFill>
              <a:srgbClr val="E2E8F0"/>
            </a:solidFill>
            <a:prstDash val="solid"/>
          </a:ln>
        </p:spPr>
      </p:sp>
      <p:sp>
        <p:nvSpPr>
          <p:cNvPr id="38" name="Text 35"/>
          <p:cNvSpPr/>
          <p:nvPr/>
        </p:nvSpPr>
        <p:spPr>
          <a:xfrm>
            <a:off x="4800600" y="2148840"/>
            <a:ext cx="3931920" cy="384048"/>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Inference Phase (Online)</a:t>
            </a:r>
            <a:endParaRPr lang="en-US" sz="1300" dirty="0"/>
          </a:p>
        </p:txBody>
      </p:sp>
      <p:sp>
        <p:nvSpPr>
          <p:cNvPr id="39" name="Text 36"/>
          <p:cNvSpPr/>
          <p:nvPr/>
        </p:nvSpPr>
        <p:spPr>
          <a:xfrm>
            <a:off x="4800600" y="2514600"/>
            <a:ext cx="3931920" cy="233172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User enters parameters on Streamlit dashboard → values scaled → XGBoost model predicts class → result displayed.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Machine Learning Models Used</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10</a:t>
            </a:r>
            <a:endParaRPr lang="en-US" sz="900" dirty="0"/>
          </a:p>
        </p:txBody>
      </p:sp>
      <p:sp>
        <p:nvSpPr>
          <p:cNvPr id="6" name="Shape 3"/>
          <p:cNvSpPr/>
          <p:nvPr/>
        </p:nvSpPr>
        <p:spPr>
          <a:xfrm>
            <a:off x="228600" y="1097280"/>
            <a:ext cx="4251960" cy="1691640"/>
          </a:xfrm>
          <a:prstGeom prst="roundRect">
            <a:avLst>
              <a:gd name="adj" fmla="val 6486"/>
            </a:avLst>
          </a:prstGeom>
          <a:solidFill>
            <a:srgbClr val="EFF6FF"/>
          </a:solidFill>
          <a:ln w="15240">
            <a:solidFill>
              <a:srgbClr val="3B82F6"/>
            </a:solidFill>
            <a:prstDash val="solid"/>
          </a:ln>
          <a:effectLst>
            <a:outerShdw sx="100000" sy="100000" kx="0" ky="0" algn="bl" rotWithShape="0" blurRad="101600" dist="38100" dir="2700000">
              <a:srgbClr val="000000">
                <a:alpha val="13000"/>
              </a:srgbClr>
            </a:outerShdw>
          </a:effectLst>
        </p:spPr>
      </p:sp>
      <p:sp>
        <p:nvSpPr>
          <p:cNvPr id="7" name="Shape 4"/>
          <p:cNvSpPr/>
          <p:nvPr/>
        </p:nvSpPr>
        <p:spPr>
          <a:xfrm>
            <a:off x="228600" y="1097280"/>
            <a:ext cx="4251960" cy="475488"/>
          </a:xfrm>
          <a:prstGeom prst="roundRect">
            <a:avLst>
              <a:gd name="adj" fmla="val 23077"/>
            </a:avLst>
          </a:prstGeom>
          <a:solidFill>
            <a:srgbClr val="3B82F6"/>
          </a:solidFill>
          <a:ln w="12700">
            <a:solidFill>
              <a:srgbClr val="3B82F6"/>
            </a:solidFill>
            <a:prstDash val="solid"/>
          </a:ln>
        </p:spPr>
      </p:sp>
      <p:sp>
        <p:nvSpPr>
          <p:cNvPr id="8" name="Shape 5"/>
          <p:cNvSpPr/>
          <p:nvPr/>
        </p:nvSpPr>
        <p:spPr>
          <a:xfrm>
            <a:off x="228600" y="1325880"/>
            <a:ext cx="4251960" cy="256032"/>
          </a:xfrm>
          <a:prstGeom prst="rect">
            <a:avLst/>
          </a:prstGeom>
          <a:solidFill>
            <a:srgbClr val="3B82F6"/>
          </a:solidFill>
          <a:ln w="12700">
            <a:solidFill>
              <a:srgbClr val="3B82F6"/>
            </a:solidFill>
            <a:prstDash val="solid"/>
          </a:ln>
        </p:spPr>
      </p:sp>
      <p:sp>
        <p:nvSpPr>
          <p:cNvPr id="9" name="Text 6"/>
          <p:cNvSpPr/>
          <p:nvPr/>
        </p:nvSpPr>
        <p:spPr>
          <a:xfrm>
            <a:off x="338328" y="1143000"/>
            <a:ext cx="40233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Logistic Regression  </a:t>
            </a:r>
            <a:pPr indent="0" marL="0">
              <a:buNone/>
            </a:pPr>
            <a:r>
              <a:rPr lang="en-US" sz="1000" dirty="0">
                <a:solidFill>
                  <a:srgbClr val="E0E7FF"/>
                </a:solidFill>
                <a:latin typeface="Calibri" pitchFamily="34" charset="0"/>
                <a:ea typeface="Calibri" pitchFamily="34" charset="-122"/>
                <a:cs typeface="Calibri" pitchFamily="34" charset="-120"/>
              </a:rPr>
              <a:t>[Baseline]</a:t>
            </a:r>
            <a:endParaRPr lang="en-US" sz="1300" dirty="0"/>
          </a:p>
        </p:txBody>
      </p:sp>
      <p:sp>
        <p:nvSpPr>
          <p:cNvPr id="10" name="Text 7"/>
          <p:cNvSpPr/>
          <p:nvPr/>
        </p:nvSpPr>
        <p:spPr>
          <a:xfrm>
            <a:off x="338328" y="1645920"/>
            <a:ext cx="4023360" cy="10515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linear model that estimates the probability of stability. Fast and interpretable — used as a baseline to compare against complex models.</a:t>
            </a:r>
            <a:endParaRPr lang="en-US" sz="1100" dirty="0"/>
          </a:p>
        </p:txBody>
      </p:sp>
      <p:sp>
        <p:nvSpPr>
          <p:cNvPr id="11" name="Shape 8"/>
          <p:cNvSpPr/>
          <p:nvPr/>
        </p:nvSpPr>
        <p:spPr>
          <a:xfrm>
            <a:off x="4754880" y="1097280"/>
            <a:ext cx="4251960" cy="1691640"/>
          </a:xfrm>
          <a:prstGeom prst="roundRect">
            <a:avLst>
              <a:gd name="adj" fmla="val 6486"/>
            </a:avLst>
          </a:prstGeom>
          <a:solidFill>
            <a:srgbClr val="FFFBEB"/>
          </a:solidFill>
          <a:ln w="15240">
            <a:solidFill>
              <a:srgbClr val="F59E0B"/>
            </a:solidFill>
            <a:prstDash val="solid"/>
          </a:ln>
          <a:effectLst>
            <a:outerShdw sx="100000" sy="100000" kx="0" ky="0" algn="bl" rotWithShape="0" blurRad="101600" dist="38100" dir="2700000">
              <a:srgbClr val="000000">
                <a:alpha val="13000"/>
              </a:srgbClr>
            </a:outerShdw>
          </a:effectLst>
        </p:spPr>
      </p:sp>
      <p:sp>
        <p:nvSpPr>
          <p:cNvPr id="12" name="Shape 9"/>
          <p:cNvSpPr/>
          <p:nvPr/>
        </p:nvSpPr>
        <p:spPr>
          <a:xfrm>
            <a:off x="4754880" y="1097280"/>
            <a:ext cx="4251960" cy="475488"/>
          </a:xfrm>
          <a:prstGeom prst="roundRect">
            <a:avLst>
              <a:gd name="adj" fmla="val 23077"/>
            </a:avLst>
          </a:prstGeom>
          <a:solidFill>
            <a:srgbClr val="F59E0B"/>
          </a:solidFill>
          <a:ln w="12700">
            <a:solidFill>
              <a:srgbClr val="F59E0B"/>
            </a:solidFill>
            <a:prstDash val="solid"/>
          </a:ln>
        </p:spPr>
      </p:sp>
      <p:sp>
        <p:nvSpPr>
          <p:cNvPr id="13" name="Shape 10"/>
          <p:cNvSpPr/>
          <p:nvPr/>
        </p:nvSpPr>
        <p:spPr>
          <a:xfrm>
            <a:off x="4754880" y="1325880"/>
            <a:ext cx="4251960" cy="256032"/>
          </a:xfrm>
          <a:prstGeom prst="rect">
            <a:avLst/>
          </a:prstGeom>
          <a:solidFill>
            <a:srgbClr val="F59E0B"/>
          </a:solidFill>
          <a:ln w="12700">
            <a:solidFill>
              <a:srgbClr val="F59E0B"/>
            </a:solidFill>
            <a:prstDash val="solid"/>
          </a:ln>
        </p:spPr>
      </p:sp>
      <p:sp>
        <p:nvSpPr>
          <p:cNvPr id="14" name="Text 11"/>
          <p:cNvSpPr/>
          <p:nvPr/>
        </p:nvSpPr>
        <p:spPr>
          <a:xfrm>
            <a:off x="4864608" y="1143000"/>
            <a:ext cx="40233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Decision Tree  </a:t>
            </a:r>
            <a:pPr indent="0" marL="0">
              <a:buNone/>
            </a:pPr>
            <a:r>
              <a:rPr lang="en-US" sz="1000" dirty="0">
                <a:solidFill>
                  <a:srgbClr val="E0E7FF"/>
                </a:solidFill>
                <a:latin typeface="Calibri" pitchFamily="34" charset="0"/>
                <a:ea typeface="Calibri" pitchFamily="34" charset="-122"/>
                <a:cs typeface="Calibri" pitchFamily="34" charset="-120"/>
              </a:rPr>
              <a:t>[Interpretable]</a:t>
            </a:r>
            <a:endParaRPr lang="en-US" sz="1300" dirty="0"/>
          </a:p>
        </p:txBody>
      </p:sp>
      <p:sp>
        <p:nvSpPr>
          <p:cNvPr id="15" name="Text 12"/>
          <p:cNvSpPr/>
          <p:nvPr/>
        </p:nvSpPr>
        <p:spPr>
          <a:xfrm>
            <a:off x="4864608" y="1645920"/>
            <a:ext cx="4023360" cy="10515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Splits the feature space into binary decisions. Highly interpretable and easy to visualise, but prone to overfitting on training data.</a:t>
            </a:r>
            <a:endParaRPr lang="en-US" sz="1100" dirty="0"/>
          </a:p>
        </p:txBody>
      </p:sp>
      <p:sp>
        <p:nvSpPr>
          <p:cNvPr id="16" name="Shape 13"/>
          <p:cNvSpPr/>
          <p:nvPr/>
        </p:nvSpPr>
        <p:spPr>
          <a:xfrm>
            <a:off x="228600" y="3017520"/>
            <a:ext cx="4251960" cy="1691640"/>
          </a:xfrm>
          <a:prstGeom prst="roundRect">
            <a:avLst>
              <a:gd name="adj" fmla="val 6486"/>
            </a:avLst>
          </a:prstGeom>
          <a:solidFill>
            <a:srgbClr val="ECFDF5"/>
          </a:solidFill>
          <a:ln w="15240">
            <a:solidFill>
              <a:srgbClr val="10B981"/>
            </a:solidFill>
            <a:prstDash val="solid"/>
          </a:ln>
          <a:effectLst>
            <a:outerShdw sx="100000" sy="100000" kx="0" ky="0" algn="bl" rotWithShape="0" blurRad="101600" dist="38100" dir="2700000">
              <a:srgbClr val="000000">
                <a:alpha val="13000"/>
              </a:srgbClr>
            </a:outerShdw>
          </a:effectLst>
        </p:spPr>
      </p:sp>
      <p:sp>
        <p:nvSpPr>
          <p:cNvPr id="17" name="Shape 14"/>
          <p:cNvSpPr/>
          <p:nvPr/>
        </p:nvSpPr>
        <p:spPr>
          <a:xfrm>
            <a:off x="228600" y="3017520"/>
            <a:ext cx="4251960" cy="475488"/>
          </a:xfrm>
          <a:prstGeom prst="roundRect">
            <a:avLst>
              <a:gd name="adj" fmla="val 23077"/>
            </a:avLst>
          </a:prstGeom>
          <a:solidFill>
            <a:srgbClr val="10B981"/>
          </a:solidFill>
          <a:ln w="12700">
            <a:solidFill>
              <a:srgbClr val="10B981"/>
            </a:solidFill>
            <a:prstDash val="solid"/>
          </a:ln>
        </p:spPr>
      </p:sp>
      <p:sp>
        <p:nvSpPr>
          <p:cNvPr id="18" name="Shape 15"/>
          <p:cNvSpPr/>
          <p:nvPr/>
        </p:nvSpPr>
        <p:spPr>
          <a:xfrm>
            <a:off x="228600" y="3246120"/>
            <a:ext cx="4251960" cy="256032"/>
          </a:xfrm>
          <a:prstGeom prst="rect">
            <a:avLst/>
          </a:prstGeom>
          <a:solidFill>
            <a:srgbClr val="10B981"/>
          </a:solidFill>
          <a:ln w="12700">
            <a:solidFill>
              <a:srgbClr val="10B981"/>
            </a:solidFill>
            <a:prstDash val="solid"/>
          </a:ln>
        </p:spPr>
      </p:sp>
      <p:sp>
        <p:nvSpPr>
          <p:cNvPr id="19" name="Text 16"/>
          <p:cNvSpPr/>
          <p:nvPr/>
        </p:nvSpPr>
        <p:spPr>
          <a:xfrm>
            <a:off x="338328" y="3063240"/>
            <a:ext cx="40233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Random Forest  </a:t>
            </a:r>
            <a:pPr indent="0" marL="0">
              <a:buNone/>
            </a:pPr>
            <a:r>
              <a:rPr lang="en-US" sz="1000" dirty="0">
                <a:solidFill>
                  <a:srgbClr val="E0E7FF"/>
                </a:solidFill>
                <a:latin typeface="Calibri" pitchFamily="34" charset="0"/>
                <a:ea typeface="Calibri" pitchFamily="34" charset="-122"/>
                <a:cs typeface="Calibri" pitchFamily="34" charset="-120"/>
              </a:rPr>
              <a:t>[Ensemble]</a:t>
            </a:r>
            <a:endParaRPr lang="en-US" sz="1300" dirty="0"/>
          </a:p>
        </p:txBody>
      </p:sp>
      <p:sp>
        <p:nvSpPr>
          <p:cNvPr id="20" name="Text 17"/>
          <p:cNvSpPr/>
          <p:nvPr/>
        </p:nvSpPr>
        <p:spPr>
          <a:xfrm>
            <a:off x="338328" y="3566160"/>
            <a:ext cx="4023360" cy="10515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Builds hundreds of decision trees and averages their predictions. Reduces overfitting and improves generalisation significantly.</a:t>
            </a:r>
            <a:endParaRPr lang="en-US" sz="1100" dirty="0"/>
          </a:p>
        </p:txBody>
      </p:sp>
      <p:sp>
        <p:nvSpPr>
          <p:cNvPr id="21" name="Shape 18"/>
          <p:cNvSpPr/>
          <p:nvPr/>
        </p:nvSpPr>
        <p:spPr>
          <a:xfrm>
            <a:off x="4754880" y="3017520"/>
            <a:ext cx="4251960" cy="1691640"/>
          </a:xfrm>
          <a:prstGeom prst="roundRect">
            <a:avLst>
              <a:gd name="adj" fmla="val 6486"/>
            </a:avLst>
          </a:prstGeom>
          <a:solidFill>
            <a:srgbClr val="F5F3FF"/>
          </a:solidFill>
          <a:ln w="15240">
            <a:solidFill>
              <a:srgbClr val="7C3AED"/>
            </a:solidFill>
            <a:prstDash val="solid"/>
          </a:ln>
          <a:effectLst>
            <a:outerShdw sx="100000" sy="100000" kx="0" ky="0" algn="bl" rotWithShape="0" blurRad="101600" dist="38100" dir="2700000">
              <a:srgbClr val="000000">
                <a:alpha val="13000"/>
              </a:srgbClr>
            </a:outerShdw>
          </a:effectLst>
        </p:spPr>
      </p:sp>
      <p:sp>
        <p:nvSpPr>
          <p:cNvPr id="22" name="Shape 19"/>
          <p:cNvSpPr/>
          <p:nvPr/>
        </p:nvSpPr>
        <p:spPr>
          <a:xfrm>
            <a:off x="4754880" y="3017520"/>
            <a:ext cx="4251960" cy="475488"/>
          </a:xfrm>
          <a:prstGeom prst="roundRect">
            <a:avLst>
              <a:gd name="adj" fmla="val 23077"/>
            </a:avLst>
          </a:prstGeom>
          <a:solidFill>
            <a:srgbClr val="7C3AED"/>
          </a:solidFill>
          <a:ln w="12700">
            <a:solidFill>
              <a:srgbClr val="7C3AED"/>
            </a:solidFill>
            <a:prstDash val="solid"/>
          </a:ln>
        </p:spPr>
      </p:sp>
      <p:sp>
        <p:nvSpPr>
          <p:cNvPr id="23" name="Shape 20"/>
          <p:cNvSpPr/>
          <p:nvPr/>
        </p:nvSpPr>
        <p:spPr>
          <a:xfrm>
            <a:off x="4754880" y="3246120"/>
            <a:ext cx="4251960" cy="256032"/>
          </a:xfrm>
          <a:prstGeom prst="rect">
            <a:avLst/>
          </a:prstGeom>
          <a:solidFill>
            <a:srgbClr val="7C3AED"/>
          </a:solidFill>
          <a:ln w="12700">
            <a:solidFill>
              <a:srgbClr val="7C3AED"/>
            </a:solidFill>
            <a:prstDash val="solid"/>
          </a:ln>
        </p:spPr>
      </p:sp>
      <p:sp>
        <p:nvSpPr>
          <p:cNvPr id="24" name="Text 21"/>
          <p:cNvSpPr/>
          <p:nvPr/>
        </p:nvSpPr>
        <p:spPr>
          <a:xfrm>
            <a:off x="4864608" y="3063240"/>
            <a:ext cx="40233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XGBoost  </a:t>
            </a:r>
            <a:pPr indent="0" marL="0">
              <a:buNone/>
            </a:pPr>
            <a:r>
              <a:rPr lang="en-US" sz="1000" dirty="0">
                <a:solidFill>
                  <a:srgbClr val="E0E7FF"/>
                </a:solidFill>
                <a:latin typeface="Calibri" pitchFamily="34" charset="0"/>
                <a:ea typeface="Calibri" pitchFamily="34" charset="-122"/>
                <a:cs typeface="Calibri" pitchFamily="34" charset="-120"/>
              </a:rPr>
              <a:t>[Best Model ★]</a:t>
            </a:r>
            <a:endParaRPr lang="en-US" sz="1300" dirty="0"/>
          </a:p>
        </p:txBody>
      </p:sp>
      <p:sp>
        <p:nvSpPr>
          <p:cNvPr id="25" name="Text 22"/>
          <p:cNvSpPr/>
          <p:nvPr/>
        </p:nvSpPr>
        <p:spPr>
          <a:xfrm>
            <a:off x="4864608" y="3566160"/>
            <a:ext cx="4023360" cy="10515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Gradient boosting that iteratively corrects errors. Achieves the highest accuracy and F1-score in this project and is deployed as the final model.</a:t>
            </a:r>
            <a:endParaRPr lang="en-US" sz="1100" dirty="0"/>
          </a:p>
        </p:txBody>
      </p:sp>
      <p:sp>
        <p:nvSpPr>
          <p:cNvPr id="26" name="Text 23"/>
          <p:cNvSpPr/>
          <p:nvPr/>
        </p:nvSpPr>
        <p:spPr>
          <a:xfrm>
            <a:off x="228600" y="4736592"/>
            <a:ext cx="8686800" cy="320040"/>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Multiple models were compared to objectively identify the best performer — this avoids bias and ensures the deployed model is truly optimal.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Results &amp; Performance Comparison</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10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1078992"/>
          <a:ext cx="5029200" cy="2926080"/>
        </p:xfrm>
        <a:graphic>
          <a:graphicData uri="http://schemas.openxmlformats.org/drawingml/2006/table">
            <a:tbl>
              <a:tblPr/>
              <a:tblGrid>
                <a:gridCol w="1005840"/>
                <a:gridCol w="1005840"/>
                <a:gridCol w="1005840"/>
                <a:gridCol w="1005840"/>
                <a:gridCol w="1005840"/>
              </a:tblGrid>
              <a:tr h="47548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1B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1B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1B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1B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1B3E"/>
                    </a:solidFill>
                  </a:tcPr>
                </a:tc>
              </a:tr>
              <a:tr h="475488">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475488">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0.88</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r>
              <a:tr h="475488">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~93%</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475488">
                <a:tc>
                  <a:txBody>
                    <a:bodyPr/>
                    <a:lstStyle/>
                    <a:p>
                      <a:pPr algn="ctr" indent="0" marL="0">
                        <a:buNone/>
                      </a:pPr>
                      <a:r>
                        <a:rPr lang="en-US" sz="1200" b="1" dirty="0">
                          <a:solidFill>
                            <a:srgbClr val="065F46"/>
                          </a:solidFill>
                          <a:latin typeface="Calibri" pitchFamily="34" charset="0"/>
                          <a:ea typeface="Calibri" pitchFamily="34" charset="-122"/>
                          <a:cs typeface="Calibri" pitchFamily="34" charset="-120"/>
                        </a:rPr>
                        <a:t>XGBoost ★</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200" b="1" dirty="0">
                          <a:solidFill>
                            <a:srgbClr val="065F46"/>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200" b="1" dirty="0">
                          <a:solidFill>
                            <a:srgbClr val="065F46"/>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200" b="1" dirty="0">
                          <a:solidFill>
                            <a:srgbClr val="065F46"/>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200" b="1" dirty="0">
                          <a:solidFill>
                            <a:srgbClr val="065F46"/>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0FDF4"/>
                    </a:solidFill>
                  </a:tcPr>
                </a:tc>
              </a:tr>
            </a:tbl>
          </a:graphicData>
        </a:graphic>
      </p:graphicFrame>
      <p:graphicFrame>
        <p:nvGraphicFramePr>
          <p:cNvPr id="7" name="Chart 0" descr=""/>
          <p:cNvGraphicFramePr/>
          <p:nvPr/>
        </p:nvGraphicFramePr>
        <p:xfrm>
          <a:off x="5394960" y="1051560"/>
          <a:ext cx="3566160" cy="297180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228600" y="4114800"/>
            <a:ext cx="8686800" cy="868680"/>
          </a:xfrm>
          <a:prstGeom prst="roundRect">
            <a:avLst>
              <a:gd name="adj" fmla="val 10526"/>
            </a:avLst>
          </a:prstGeom>
          <a:solidFill>
            <a:srgbClr val="F0FDF4"/>
          </a:solidFill>
          <a:ln w="12700">
            <a:solidFill>
              <a:srgbClr val="6EE7B7"/>
            </a:solidFill>
            <a:prstDash val="solid"/>
          </a:ln>
        </p:spPr>
      </p:sp>
      <p:sp>
        <p:nvSpPr>
          <p:cNvPr id="9" name="Text 4"/>
          <p:cNvSpPr/>
          <p:nvPr/>
        </p:nvSpPr>
        <p:spPr>
          <a:xfrm>
            <a:off x="365760" y="4160520"/>
            <a:ext cx="8412480" cy="777240"/>
          </a:xfrm>
          <a:prstGeom prst="rect">
            <a:avLst/>
          </a:prstGeom>
          <a:noFill/>
          <a:ln/>
        </p:spPr>
        <p:txBody>
          <a:bodyPr wrap="square" rtlCol="0" anchor="ctr"/>
          <a:lstStyle/>
          <a:p>
            <a:pPr indent="0" marL="0">
              <a:buNone/>
            </a:pPr>
            <a:r>
              <a:rPr lang="en-US" sz="1200" b="1" dirty="0">
                <a:solidFill>
                  <a:srgbClr val="065F46"/>
                </a:solidFill>
                <a:latin typeface="Calibri" pitchFamily="34" charset="0"/>
                <a:ea typeface="Calibri" pitchFamily="34" charset="-122"/>
                <a:cs typeface="Calibri" pitchFamily="34" charset="-120"/>
              </a:rPr>
              <a:t>Why XGBoost?  </a:t>
            </a:r>
            <a:pPr indent="0" marL="0">
              <a:buNone/>
            </a:pPr>
            <a:r>
              <a:rPr lang="en-US" sz="1200" dirty="0">
                <a:solidFill>
                  <a:srgbClr val="1E293B"/>
                </a:solidFill>
                <a:latin typeface="Calibri" pitchFamily="34" charset="0"/>
                <a:ea typeface="Calibri" pitchFamily="34" charset="-122"/>
                <a:cs typeface="Calibri" pitchFamily="34" charset="-120"/>
              </a:rPr>
              <a:t>Highest accuracy (~97%), best F1-score, handles non-linear patterns effectively, and robust against overfitting — making it the optimal choice for deployment.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Streamlit Dashboard Demonstration</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10</a:t>
            </a:r>
            <a:endParaRPr lang="en-US" sz="900" dirty="0"/>
          </a:p>
        </p:txBody>
      </p:sp>
      <p:sp>
        <p:nvSpPr>
          <p:cNvPr id="6" name="Shape 3"/>
          <p:cNvSpPr/>
          <p:nvPr/>
        </p:nvSpPr>
        <p:spPr>
          <a:xfrm>
            <a:off x="228600" y="1143000"/>
            <a:ext cx="4663440" cy="804672"/>
          </a:xfrm>
          <a:prstGeom prst="roundRect">
            <a:avLst>
              <a:gd name="adj" fmla="val 11364"/>
            </a:avLst>
          </a:prstGeom>
          <a:solidFill>
            <a:srgbClr val="FFFFFF"/>
          </a:solidFill>
          <a:ln w="7620">
            <a:solidFill>
              <a:srgbClr val="E2E8F0"/>
            </a:solidFill>
            <a:prstDash val="solid"/>
          </a:ln>
          <a:effectLst>
            <a:outerShdw sx="100000" sy="100000" kx="0" ky="0" algn="bl" rotWithShape="0" blurRad="101600" dist="38100" dir="2700000">
              <a:srgbClr val="000000">
                <a:alpha val="13000"/>
              </a:srgbClr>
            </a:outerShdw>
          </a:effectLst>
        </p:spPr>
      </p:sp>
      <p:sp>
        <p:nvSpPr>
          <p:cNvPr id="7" name="Text 4"/>
          <p:cNvSpPr/>
          <p:nvPr/>
        </p:nvSpPr>
        <p:spPr>
          <a:xfrm>
            <a:off x="320040" y="1289304"/>
            <a:ext cx="502920" cy="50292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8" name="Text 5"/>
          <p:cNvSpPr/>
          <p:nvPr/>
        </p:nvSpPr>
        <p:spPr>
          <a:xfrm>
            <a:off x="868680" y="1197864"/>
            <a:ext cx="3931920" cy="301752"/>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Input Panel</a:t>
            </a:r>
            <a:endParaRPr lang="en-US" sz="1300" dirty="0"/>
          </a:p>
        </p:txBody>
      </p:sp>
      <p:sp>
        <p:nvSpPr>
          <p:cNvPr id="9" name="Text 6"/>
          <p:cNvSpPr/>
          <p:nvPr/>
        </p:nvSpPr>
        <p:spPr>
          <a:xfrm>
            <a:off x="868680" y="1481328"/>
            <a:ext cx="3931920" cy="4114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12 numeric sliders/inputs for τ, p, and g parameters — one for each grid participant.</a:t>
            </a:r>
            <a:endParaRPr lang="en-US" sz="1100" dirty="0"/>
          </a:p>
        </p:txBody>
      </p:sp>
      <p:sp>
        <p:nvSpPr>
          <p:cNvPr id="10" name="Shape 7"/>
          <p:cNvSpPr/>
          <p:nvPr/>
        </p:nvSpPr>
        <p:spPr>
          <a:xfrm>
            <a:off x="228600" y="2103120"/>
            <a:ext cx="4663440" cy="804672"/>
          </a:xfrm>
          <a:prstGeom prst="roundRect">
            <a:avLst>
              <a:gd name="adj" fmla="val 11364"/>
            </a:avLst>
          </a:prstGeom>
          <a:solidFill>
            <a:srgbClr val="FFFFFF"/>
          </a:solidFill>
          <a:ln w="7620">
            <a:solidFill>
              <a:srgbClr val="E2E8F0"/>
            </a:solidFill>
            <a:prstDash val="solid"/>
          </a:ln>
          <a:effectLst>
            <a:outerShdw sx="100000" sy="100000" kx="0" ky="0" algn="bl" rotWithShape="0" blurRad="101600" dist="38100" dir="2700000">
              <a:srgbClr val="000000">
                <a:alpha val="13000"/>
              </a:srgbClr>
            </a:outerShdw>
          </a:effectLst>
        </p:spPr>
      </p:sp>
      <p:sp>
        <p:nvSpPr>
          <p:cNvPr id="11" name="Text 8"/>
          <p:cNvSpPr/>
          <p:nvPr/>
        </p:nvSpPr>
        <p:spPr>
          <a:xfrm>
            <a:off x="320040" y="2249424"/>
            <a:ext cx="502920" cy="50292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9"/>
          <p:cNvSpPr/>
          <p:nvPr/>
        </p:nvSpPr>
        <p:spPr>
          <a:xfrm>
            <a:off x="868680" y="2157984"/>
            <a:ext cx="3931920" cy="301752"/>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Instant Prediction</a:t>
            </a:r>
            <a:endParaRPr lang="en-US" sz="1300" dirty="0"/>
          </a:p>
        </p:txBody>
      </p:sp>
      <p:sp>
        <p:nvSpPr>
          <p:cNvPr id="13" name="Text 10"/>
          <p:cNvSpPr/>
          <p:nvPr/>
        </p:nvSpPr>
        <p:spPr>
          <a:xfrm>
            <a:off x="868680" y="2441448"/>
            <a:ext cx="3931920" cy="4114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XGBoost model returns stable/unstable classification in real time with a single button click.</a:t>
            </a:r>
            <a:endParaRPr lang="en-US" sz="1100" dirty="0"/>
          </a:p>
        </p:txBody>
      </p:sp>
      <p:sp>
        <p:nvSpPr>
          <p:cNvPr id="14" name="Shape 11"/>
          <p:cNvSpPr/>
          <p:nvPr/>
        </p:nvSpPr>
        <p:spPr>
          <a:xfrm>
            <a:off x="228600" y="3063240"/>
            <a:ext cx="4663440" cy="804672"/>
          </a:xfrm>
          <a:prstGeom prst="roundRect">
            <a:avLst>
              <a:gd name="adj" fmla="val 11364"/>
            </a:avLst>
          </a:prstGeom>
          <a:solidFill>
            <a:srgbClr val="FFFFFF"/>
          </a:solidFill>
          <a:ln w="7620">
            <a:solidFill>
              <a:srgbClr val="E2E8F0"/>
            </a:solidFill>
            <a:prstDash val="solid"/>
          </a:ln>
          <a:effectLst>
            <a:outerShdw sx="100000" sy="100000" kx="0" ky="0" algn="bl" rotWithShape="0" blurRad="101600" dist="38100" dir="2700000">
              <a:srgbClr val="000000">
                <a:alpha val="13000"/>
              </a:srgbClr>
            </a:outerShdw>
          </a:effectLst>
        </p:spPr>
      </p:sp>
      <p:sp>
        <p:nvSpPr>
          <p:cNvPr id="15" name="Text 12"/>
          <p:cNvSpPr/>
          <p:nvPr/>
        </p:nvSpPr>
        <p:spPr>
          <a:xfrm>
            <a:off x="320040" y="3209544"/>
            <a:ext cx="502920" cy="50292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6" name="Text 13"/>
          <p:cNvSpPr/>
          <p:nvPr/>
        </p:nvSpPr>
        <p:spPr>
          <a:xfrm>
            <a:off x="868680" y="3118104"/>
            <a:ext cx="3931920" cy="301752"/>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Risk Assessment</a:t>
            </a:r>
            <a:endParaRPr lang="en-US" sz="1300" dirty="0"/>
          </a:p>
        </p:txBody>
      </p:sp>
      <p:sp>
        <p:nvSpPr>
          <p:cNvPr id="17" name="Text 14"/>
          <p:cNvSpPr/>
          <p:nvPr/>
        </p:nvSpPr>
        <p:spPr>
          <a:xfrm>
            <a:off x="868680" y="3401568"/>
            <a:ext cx="3931920" cy="4114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Color-coded risk message: Green = Stable, Red = Unstable — with recommended actions.</a:t>
            </a:r>
            <a:endParaRPr lang="en-US" sz="1100" dirty="0"/>
          </a:p>
        </p:txBody>
      </p:sp>
      <p:sp>
        <p:nvSpPr>
          <p:cNvPr id="18" name="Shape 15"/>
          <p:cNvSpPr/>
          <p:nvPr/>
        </p:nvSpPr>
        <p:spPr>
          <a:xfrm>
            <a:off x="228600" y="4023360"/>
            <a:ext cx="4663440" cy="804672"/>
          </a:xfrm>
          <a:prstGeom prst="roundRect">
            <a:avLst>
              <a:gd name="adj" fmla="val 11364"/>
            </a:avLst>
          </a:prstGeom>
          <a:solidFill>
            <a:srgbClr val="FFFFFF"/>
          </a:solidFill>
          <a:ln w="7620">
            <a:solidFill>
              <a:srgbClr val="E2E8F0"/>
            </a:solidFill>
            <a:prstDash val="solid"/>
          </a:ln>
          <a:effectLst>
            <a:outerShdw sx="100000" sy="100000" kx="0" ky="0" algn="bl" rotWithShape="0" blurRad="101600" dist="38100" dir="2700000">
              <a:srgbClr val="000000">
                <a:alpha val="13000"/>
              </a:srgbClr>
            </a:outerShdw>
          </a:effectLst>
        </p:spPr>
      </p:sp>
      <p:sp>
        <p:nvSpPr>
          <p:cNvPr id="19" name="Text 16"/>
          <p:cNvSpPr/>
          <p:nvPr/>
        </p:nvSpPr>
        <p:spPr>
          <a:xfrm>
            <a:off x="320040" y="4169664"/>
            <a:ext cx="502920" cy="50292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0" name="Text 17"/>
          <p:cNvSpPr/>
          <p:nvPr/>
        </p:nvSpPr>
        <p:spPr>
          <a:xfrm>
            <a:off x="868680" y="4078224"/>
            <a:ext cx="3931920" cy="301752"/>
          </a:xfrm>
          <a:prstGeom prst="rect">
            <a:avLst/>
          </a:prstGeom>
          <a:noFill/>
          <a:ln/>
        </p:spPr>
        <p:txBody>
          <a:bodyPr wrap="square"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Visualisations</a:t>
            </a:r>
            <a:endParaRPr lang="en-US" sz="1300" dirty="0"/>
          </a:p>
        </p:txBody>
      </p:sp>
      <p:sp>
        <p:nvSpPr>
          <p:cNvPr id="21" name="Text 18"/>
          <p:cNvSpPr/>
          <p:nvPr/>
        </p:nvSpPr>
        <p:spPr>
          <a:xfrm>
            <a:off x="868680" y="4361688"/>
            <a:ext cx="3931920" cy="41148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Feature importance chart shows which parameters most influence the prediction.</a:t>
            </a:r>
            <a:endParaRPr lang="en-US" sz="1100" dirty="0"/>
          </a:p>
        </p:txBody>
      </p:sp>
      <p:sp>
        <p:nvSpPr>
          <p:cNvPr id="22" name="Shape 19"/>
          <p:cNvSpPr/>
          <p:nvPr/>
        </p:nvSpPr>
        <p:spPr>
          <a:xfrm>
            <a:off x="5074920" y="1097280"/>
            <a:ext cx="3840480" cy="3840480"/>
          </a:xfrm>
          <a:prstGeom prst="roundRect">
            <a:avLst>
              <a:gd name="adj" fmla="val 3571"/>
            </a:avLst>
          </a:prstGeom>
          <a:solidFill>
            <a:srgbClr val="0F172A"/>
          </a:solidFill>
          <a:ln w="12700">
            <a:solidFill>
              <a:srgbClr val="1E293B"/>
            </a:solidFill>
            <a:prstDash val="solid"/>
          </a:ln>
        </p:spPr>
      </p:sp>
      <p:sp>
        <p:nvSpPr>
          <p:cNvPr id="23" name="Text 20"/>
          <p:cNvSpPr/>
          <p:nvPr/>
        </p:nvSpPr>
        <p:spPr>
          <a:xfrm>
            <a:off x="5166360" y="1188720"/>
            <a:ext cx="3657600" cy="347472"/>
          </a:xfrm>
          <a:prstGeom prst="rect">
            <a:avLst/>
          </a:prstGeom>
          <a:noFill/>
          <a:ln/>
        </p:spPr>
        <p:txBody>
          <a:bodyPr wrap="square"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SmartGrid Guardian</a:t>
            </a:r>
            <a:endParaRPr lang="en-US" sz="1300" dirty="0"/>
          </a:p>
        </p:txBody>
      </p:sp>
      <p:sp>
        <p:nvSpPr>
          <p:cNvPr id="24" name="Text 21"/>
          <p:cNvSpPr/>
          <p:nvPr/>
        </p:nvSpPr>
        <p:spPr>
          <a:xfrm>
            <a:off x="5166360" y="1508760"/>
            <a:ext cx="3657600" cy="228600"/>
          </a:xfrm>
          <a:prstGeom prst="rect">
            <a:avLst/>
          </a:prstGeom>
          <a:noFill/>
          <a:ln/>
        </p:spPr>
        <p:txBody>
          <a:bodyPr wrap="square"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Dashboard Preview</a:t>
            </a:r>
            <a:endParaRPr lang="en-US" sz="900" dirty="0"/>
          </a:p>
        </p:txBody>
      </p:sp>
      <p:sp>
        <p:nvSpPr>
          <p:cNvPr id="25" name="Shape 22"/>
          <p:cNvSpPr/>
          <p:nvPr/>
        </p:nvSpPr>
        <p:spPr>
          <a:xfrm>
            <a:off x="5257800" y="1874520"/>
            <a:ext cx="3474720" cy="347472"/>
          </a:xfrm>
          <a:prstGeom prst="rect">
            <a:avLst/>
          </a:prstGeom>
          <a:solidFill>
            <a:srgbClr val="1E293B"/>
          </a:solidFill>
          <a:ln w="6350">
            <a:solidFill>
              <a:srgbClr val="334155"/>
            </a:solidFill>
            <a:prstDash val="solid"/>
          </a:ln>
        </p:spPr>
      </p:sp>
      <p:sp>
        <p:nvSpPr>
          <p:cNvPr id="26" name="Text 23"/>
          <p:cNvSpPr/>
          <p:nvPr/>
        </p:nvSpPr>
        <p:spPr>
          <a:xfrm>
            <a:off x="5349240" y="1911096"/>
            <a:ext cx="329184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τ1 (Response Time)  </a:t>
            </a:r>
            <a:pPr indent="0" marL="0">
              <a:buNone/>
            </a:pPr>
            <a:r>
              <a:rPr lang="en-US" sz="1000" b="1" dirty="0">
                <a:solidFill>
                  <a:srgbClr val="60A5FA"/>
                </a:solidFill>
                <a:latin typeface="Calibri" pitchFamily="34" charset="0"/>
                <a:ea typeface="Calibri" pitchFamily="34" charset="-122"/>
                <a:cs typeface="Calibri" pitchFamily="34" charset="-120"/>
              </a:rPr>
              <a:t>3.2</a:t>
            </a:r>
            <a:endParaRPr lang="en-US" sz="1000" dirty="0"/>
          </a:p>
        </p:txBody>
      </p:sp>
      <p:sp>
        <p:nvSpPr>
          <p:cNvPr id="27" name="Shape 24"/>
          <p:cNvSpPr/>
          <p:nvPr/>
        </p:nvSpPr>
        <p:spPr>
          <a:xfrm>
            <a:off x="5257800" y="2331720"/>
            <a:ext cx="3474720" cy="347472"/>
          </a:xfrm>
          <a:prstGeom prst="rect">
            <a:avLst/>
          </a:prstGeom>
          <a:solidFill>
            <a:srgbClr val="1E293B"/>
          </a:solidFill>
          <a:ln w="6350">
            <a:solidFill>
              <a:srgbClr val="334155"/>
            </a:solidFill>
            <a:prstDash val="solid"/>
          </a:ln>
        </p:spPr>
      </p:sp>
      <p:sp>
        <p:nvSpPr>
          <p:cNvPr id="28" name="Text 25"/>
          <p:cNvSpPr/>
          <p:nvPr/>
        </p:nvSpPr>
        <p:spPr>
          <a:xfrm>
            <a:off x="5349240" y="2368296"/>
            <a:ext cx="329184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p2 (Power Consumed)  </a:t>
            </a:r>
            <a:pPr indent="0" marL="0">
              <a:buNone/>
            </a:pPr>
            <a:r>
              <a:rPr lang="en-US" sz="1000" b="1" dirty="0">
                <a:solidFill>
                  <a:srgbClr val="60A5FA"/>
                </a:solidFill>
                <a:latin typeface="Calibri" pitchFamily="34" charset="0"/>
                <a:ea typeface="Calibri" pitchFamily="34" charset="-122"/>
                <a:cs typeface="Calibri" pitchFamily="34" charset="-120"/>
              </a:rPr>
              <a:t>-1.8</a:t>
            </a:r>
            <a:endParaRPr lang="en-US" sz="1000" dirty="0"/>
          </a:p>
        </p:txBody>
      </p:sp>
      <p:sp>
        <p:nvSpPr>
          <p:cNvPr id="29" name="Shape 26"/>
          <p:cNvSpPr/>
          <p:nvPr/>
        </p:nvSpPr>
        <p:spPr>
          <a:xfrm>
            <a:off x="5257800" y="2788920"/>
            <a:ext cx="3474720" cy="347472"/>
          </a:xfrm>
          <a:prstGeom prst="rect">
            <a:avLst/>
          </a:prstGeom>
          <a:solidFill>
            <a:srgbClr val="1E293B"/>
          </a:solidFill>
          <a:ln w="6350">
            <a:solidFill>
              <a:srgbClr val="334155"/>
            </a:solidFill>
            <a:prstDash val="solid"/>
          </a:ln>
        </p:spPr>
      </p:sp>
      <p:sp>
        <p:nvSpPr>
          <p:cNvPr id="30" name="Text 27"/>
          <p:cNvSpPr/>
          <p:nvPr/>
        </p:nvSpPr>
        <p:spPr>
          <a:xfrm>
            <a:off x="5349240" y="2825496"/>
            <a:ext cx="329184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g3 (Elasticity)  </a:t>
            </a:r>
            <a:pPr indent="0" marL="0">
              <a:buNone/>
            </a:pPr>
            <a:r>
              <a:rPr lang="en-US" sz="1000" b="1" dirty="0">
                <a:solidFill>
                  <a:srgbClr val="60A5FA"/>
                </a:solidFill>
                <a:latin typeface="Calibri" pitchFamily="34" charset="0"/>
                <a:ea typeface="Calibri" pitchFamily="34" charset="-122"/>
                <a:cs typeface="Calibri" pitchFamily="34" charset="-120"/>
              </a:rPr>
              <a:t>0.65</a:t>
            </a:r>
            <a:endParaRPr lang="en-US" sz="1000" dirty="0"/>
          </a:p>
        </p:txBody>
      </p:sp>
      <p:sp>
        <p:nvSpPr>
          <p:cNvPr id="31" name="Shape 28"/>
          <p:cNvSpPr/>
          <p:nvPr/>
        </p:nvSpPr>
        <p:spPr>
          <a:xfrm>
            <a:off x="5257800" y="3337560"/>
            <a:ext cx="3474720" cy="475488"/>
          </a:xfrm>
          <a:prstGeom prst="roundRect">
            <a:avLst>
              <a:gd name="adj" fmla="val 15385"/>
            </a:avLst>
          </a:prstGeom>
          <a:solidFill>
            <a:srgbClr val="064E3B"/>
          </a:solidFill>
          <a:ln w="19050">
            <a:solidFill>
              <a:srgbClr val="10B981"/>
            </a:solidFill>
            <a:prstDash val="solid"/>
          </a:ln>
        </p:spPr>
      </p:sp>
      <p:sp>
        <p:nvSpPr>
          <p:cNvPr id="32" name="Text 29"/>
          <p:cNvSpPr/>
          <p:nvPr/>
        </p:nvSpPr>
        <p:spPr>
          <a:xfrm>
            <a:off x="5257800" y="3337560"/>
            <a:ext cx="3474720" cy="475488"/>
          </a:xfrm>
          <a:prstGeom prst="rect">
            <a:avLst/>
          </a:prstGeom>
          <a:noFill/>
          <a:ln/>
        </p:spPr>
        <p:txBody>
          <a:bodyPr wrap="square" rtlCol="0" anchor="ctr"/>
          <a:lstStyle/>
          <a:p>
            <a:pPr algn="ctr" indent="0" marL="0">
              <a:buNone/>
            </a:pPr>
            <a:r>
              <a:rPr lang="en-US" sz="1300" b="1" dirty="0">
                <a:solidFill>
                  <a:srgbClr val="6EE7B7"/>
                </a:solidFill>
                <a:latin typeface="Calibri" pitchFamily="34" charset="0"/>
                <a:ea typeface="Calibri" pitchFamily="34" charset="-122"/>
                <a:cs typeface="Calibri" pitchFamily="34" charset="-120"/>
              </a:rPr>
              <a:t>✅  STABLE  —  Low Risk</a:t>
            </a:r>
            <a:endParaRPr lang="en-US" sz="1300" dirty="0"/>
          </a:p>
        </p:txBody>
      </p:sp>
      <p:sp>
        <p:nvSpPr>
          <p:cNvPr id="33" name="Text 30"/>
          <p:cNvSpPr/>
          <p:nvPr/>
        </p:nvSpPr>
        <p:spPr>
          <a:xfrm>
            <a:off x="5257800" y="3913632"/>
            <a:ext cx="3474720" cy="384048"/>
          </a:xfrm>
          <a:prstGeom prst="roundRect">
            <a:avLst/>
          </a:prstGeom>
          <a:solidFill>
            <a:srgbClr val="1A56DB"/>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Predict Stability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pic>
        <p:nvPicPr>
          <p:cNvPr id="3" name="Image 0" descr="preencoded.png">    </p:cNvPr>
          <p:cNvPicPr>
            <a:picLocks noChangeAspect="1"/>
          </p:cNvPicPr>
          <p:nvPr/>
        </p:nvPicPr>
        <p:blipFill>
          <a:blip r:embed="rId1"/>
          <a:stretch>
            <a:fillRect/>
          </a:stretch>
        </p:blipFill>
        <p:spPr>
          <a:xfrm>
            <a:off x="228600" y="164592"/>
            <a:ext cx="502920" cy="502920"/>
          </a:xfrm>
          <a:prstGeom prst="rect">
            <a:avLst/>
          </a:prstGeom>
        </p:spPr>
      </p:pic>
      <p:sp>
        <p:nvSpPr>
          <p:cNvPr id="4" name="Text 1"/>
          <p:cNvSpPr/>
          <p:nvPr/>
        </p:nvSpPr>
        <p:spPr>
          <a:xfrm>
            <a:off x="868680" y="914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SDG Alignment</a:t>
            </a:r>
            <a:endParaRPr lang="en-US" sz="2600" dirty="0"/>
          </a:p>
        </p:txBody>
      </p:sp>
      <p:sp>
        <p:nvSpPr>
          <p:cNvPr id="5" name="Text 2"/>
          <p:cNvSpPr/>
          <p:nvPr/>
        </p:nvSpPr>
        <p:spPr>
          <a:xfrm>
            <a:off x="8046720" y="4846320"/>
            <a:ext cx="91440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10</a:t>
            </a:r>
            <a:endParaRPr lang="en-US" sz="900" dirty="0"/>
          </a:p>
        </p:txBody>
      </p:sp>
      <p:sp>
        <p:nvSpPr>
          <p:cNvPr id="6" name="Shape 3"/>
          <p:cNvSpPr/>
          <p:nvPr/>
        </p:nvSpPr>
        <p:spPr>
          <a:xfrm>
            <a:off x="228600" y="1097280"/>
            <a:ext cx="2743200" cy="3794760"/>
          </a:xfrm>
          <a:prstGeom prst="roundRect">
            <a:avLst>
              <a:gd name="adj" fmla="val 5000"/>
            </a:avLst>
          </a:prstGeom>
          <a:solidFill>
            <a:srgbClr val="FEF3C7"/>
          </a:solidFill>
          <a:ln w="19050">
            <a:solidFill>
              <a:srgbClr val="F59E0B"/>
            </a:solidFill>
            <a:prstDash val="solid"/>
          </a:ln>
          <a:effectLst>
            <a:outerShdw sx="100000" sy="100000" kx="0" ky="0" algn="bl" rotWithShape="0" blurRad="101600" dist="38100" dir="2700000">
              <a:srgbClr val="000000">
                <a:alpha val="13000"/>
              </a:srgbClr>
            </a:outerShdw>
          </a:effectLst>
        </p:spPr>
      </p:sp>
      <p:sp>
        <p:nvSpPr>
          <p:cNvPr id="7" name="Text 4"/>
          <p:cNvSpPr/>
          <p:nvPr/>
        </p:nvSpPr>
        <p:spPr>
          <a:xfrm>
            <a:off x="228600" y="1170432"/>
            <a:ext cx="274320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8" name="Text 5"/>
          <p:cNvSpPr/>
          <p:nvPr/>
        </p:nvSpPr>
        <p:spPr>
          <a:xfrm>
            <a:off x="320040" y="1719072"/>
            <a:ext cx="2560320" cy="347472"/>
          </a:xfrm>
          <a:prstGeom prst="rect">
            <a:avLst/>
          </a:prstGeom>
          <a:noFill/>
          <a:ln/>
        </p:spPr>
        <p:txBody>
          <a:bodyPr wrap="square" rtlCol="0" anchor="ctr"/>
          <a:lstStyle/>
          <a:p>
            <a:pPr algn="ctr" indent="0" marL="0">
              <a:buNone/>
            </a:pPr>
            <a:r>
              <a:rPr lang="en-US" sz="1600" b="1" dirty="0">
                <a:solidFill>
                  <a:srgbClr val="0D1B3E"/>
                </a:solidFill>
                <a:latin typeface="Calibri" pitchFamily="34" charset="0"/>
                <a:ea typeface="Calibri" pitchFamily="34" charset="-122"/>
                <a:cs typeface="Calibri" pitchFamily="34" charset="-120"/>
              </a:rPr>
              <a:t>SDG 7</a:t>
            </a:r>
            <a:endParaRPr lang="en-US" sz="1600" dirty="0"/>
          </a:p>
        </p:txBody>
      </p:sp>
      <p:sp>
        <p:nvSpPr>
          <p:cNvPr id="9" name="Text 6"/>
          <p:cNvSpPr/>
          <p:nvPr/>
        </p:nvSpPr>
        <p:spPr>
          <a:xfrm>
            <a:off x="320040" y="2048256"/>
            <a:ext cx="2560320" cy="384048"/>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Affordable &amp; Clean Energy</a:t>
            </a:r>
            <a:endParaRPr lang="en-US" sz="1100" dirty="0"/>
          </a:p>
        </p:txBody>
      </p:sp>
      <p:sp>
        <p:nvSpPr>
          <p:cNvPr id="10" name="Text 7"/>
          <p:cNvSpPr/>
          <p:nvPr/>
        </p:nvSpPr>
        <p:spPr>
          <a:xfrm>
            <a:off x="365760" y="2505456"/>
            <a:ext cx="2468880" cy="224028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Improves efficiency of clean energy delivery</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Prevents grid instabilities that waste renewable energy</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Supports reliable access to electricity</a:t>
            </a:r>
            <a:endParaRPr lang="en-US" sz="1100" dirty="0"/>
          </a:p>
        </p:txBody>
      </p:sp>
      <p:sp>
        <p:nvSpPr>
          <p:cNvPr id="11" name="Shape 8"/>
          <p:cNvSpPr/>
          <p:nvPr/>
        </p:nvSpPr>
        <p:spPr>
          <a:xfrm>
            <a:off x="3154680" y="1097280"/>
            <a:ext cx="2743200" cy="3794760"/>
          </a:xfrm>
          <a:prstGeom prst="roundRect">
            <a:avLst>
              <a:gd name="adj" fmla="val 5000"/>
            </a:avLst>
          </a:prstGeom>
          <a:solidFill>
            <a:srgbClr val="EFF6FF"/>
          </a:solidFill>
          <a:ln w="19050">
            <a:solidFill>
              <a:srgbClr val="3B82F6"/>
            </a:solidFill>
            <a:prstDash val="solid"/>
          </a:ln>
          <a:effectLst>
            <a:outerShdw sx="100000" sy="100000" kx="0" ky="0" algn="bl" rotWithShape="0" blurRad="101600" dist="38100" dir="2700000">
              <a:srgbClr val="000000">
                <a:alpha val="13000"/>
              </a:srgbClr>
            </a:outerShdw>
          </a:effectLst>
        </p:spPr>
      </p:sp>
      <p:sp>
        <p:nvSpPr>
          <p:cNvPr id="12" name="Text 9"/>
          <p:cNvSpPr/>
          <p:nvPr/>
        </p:nvSpPr>
        <p:spPr>
          <a:xfrm>
            <a:off x="3154680" y="1170432"/>
            <a:ext cx="274320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3" name="Text 10"/>
          <p:cNvSpPr/>
          <p:nvPr/>
        </p:nvSpPr>
        <p:spPr>
          <a:xfrm>
            <a:off x="3246120" y="1719072"/>
            <a:ext cx="2560320" cy="347472"/>
          </a:xfrm>
          <a:prstGeom prst="rect">
            <a:avLst/>
          </a:prstGeom>
          <a:noFill/>
          <a:ln/>
        </p:spPr>
        <p:txBody>
          <a:bodyPr wrap="square" rtlCol="0" anchor="ctr"/>
          <a:lstStyle/>
          <a:p>
            <a:pPr algn="ctr" indent="0" marL="0">
              <a:buNone/>
            </a:pPr>
            <a:r>
              <a:rPr lang="en-US" sz="1600" b="1" dirty="0">
                <a:solidFill>
                  <a:srgbClr val="0D1B3E"/>
                </a:solidFill>
                <a:latin typeface="Calibri" pitchFamily="34" charset="0"/>
                <a:ea typeface="Calibri" pitchFamily="34" charset="-122"/>
                <a:cs typeface="Calibri" pitchFamily="34" charset="-120"/>
              </a:rPr>
              <a:t>SDG 9</a:t>
            </a:r>
            <a:endParaRPr lang="en-US" sz="1600" dirty="0"/>
          </a:p>
        </p:txBody>
      </p:sp>
      <p:sp>
        <p:nvSpPr>
          <p:cNvPr id="14" name="Text 11"/>
          <p:cNvSpPr/>
          <p:nvPr/>
        </p:nvSpPr>
        <p:spPr>
          <a:xfrm>
            <a:off x="3246120" y="2048256"/>
            <a:ext cx="2560320" cy="384048"/>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Industry, Innovation &amp; Infrastructure</a:t>
            </a:r>
            <a:endParaRPr lang="en-US" sz="1100" dirty="0"/>
          </a:p>
        </p:txBody>
      </p:sp>
      <p:sp>
        <p:nvSpPr>
          <p:cNvPr id="15" name="Text 12"/>
          <p:cNvSpPr/>
          <p:nvPr/>
        </p:nvSpPr>
        <p:spPr>
          <a:xfrm>
            <a:off x="3291840" y="2505456"/>
            <a:ext cx="2468880" cy="224028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Applies AI/ML to critical energy infrastructure</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Demonstrates innovation in grid management</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Builds towards resilient smart energy systems</a:t>
            </a:r>
            <a:endParaRPr lang="en-US" sz="1100" dirty="0"/>
          </a:p>
        </p:txBody>
      </p:sp>
      <p:sp>
        <p:nvSpPr>
          <p:cNvPr id="16" name="Shape 13"/>
          <p:cNvSpPr/>
          <p:nvPr/>
        </p:nvSpPr>
        <p:spPr>
          <a:xfrm>
            <a:off x="6080760" y="1097280"/>
            <a:ext cx="2743200" cy="3794760"/>
          </a:xfrm>
          <a:prstGeom prst="roundRect">
            <a:avLst>
              <a:gd name="adj" fmla="val 5000"/>
            </a:avLst>
          </a:prstGeom>
          <a:solidFill>
            <a:srgbClr val="ECFDF5"/>
          </a:solidFill>
          <a:ln w="19050">
            <a:solidFill>
              <a:srgbClr val="10B981"/>
            </a:solidFill>
            <a:prstDash val="solid"/>
          </a:ln>
          <a:effectLst>
            <a:outerShdw sx="100000" sy="100000" kx="0" ky="0" algn="bl" rotWithShape="0" blurRad="101600" dist="38100" dir="2700000">
              <a:srgbClr val="000000">
                <a:alpha val="13000"/>
              </a:srgbClr>
            </a:outerShdw>
          </a:effectLst>
        </p:spPr>
      </p:sp>
      <p:sp>
        <p:nvSpPr>
          <p:cNvPr id="17" name="Text 14"/>
          <p:cNvSpPr/>
          <p:nvPr/>
        </p:nvSpPr>
        <p:spPr>
          <a:xfrm>
            <a:off x="6080760" y="1170432"/>
            <a:ext cx="274320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8" name="Text 15"/>
          <p:cNvSpPr/>
          <p:nvPr/>
        </p:nvSpPr>
        <p:spPr>
          <a:xfrm>
            <a:off x="6172200" y="1719072"/>
            <a:ext cx="2560320" cy="347472"/>
          </a:xfrm>
          <a:prstGeom prst="rect">
            <a:avLst/>
          </a:prstGeom>
          <a:noFill/>
          <a:ln/>
        </p:spPr>
        <p:txBody>
          <a:bodyPr wrap="square" rtlCol="0" anchor="ctr"/>
          <a:lstStyle/>
          <a:p>
            <a:pPr algn="ctr" indent="0" marL="0">
              <a:buNone/>
            </a:pPr>
            <a:r>
              <a:rPr lang="en-US" sz="1600" b="1" dirty="0">
                <a:solidFill>
                  <a:srgbClr val="0D1B3E"/>
                </a:solidFill>
                <a:latin typeface="Calibri" pitchFamily="34" charset="0"/>
                <a:ea typeface="Calibri" pitchFamily="34" charset="-122"/>
                <a:cs typeface="Calibri" pitchFamily="34" charset="-120"/>
              </a:rPr>
              <a:t>SDG 11</a:t>
            </a:r>
            <a:endParaRPr lang="en-US" sz="1600" dirty="0"/>
          </a:p>
        </p:txBody>
      </p:sp>
      <p:sp>
        <p:nvSpPr>
          <p:cNvPr id="19" name="Text 16"/>
          <p:cNvSpPr/>
          <p:nvPr/>
        </p:nvSpPr>
        <p:spPr>
          <a:xfrm>
            <a:off x="6172200" y="2048256"/>
            <a:ext cx="2560320" cy="384048"/>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Sustainable Cities &amp; Communities</a:t>
            </a:r>
            <a:endParaRPr lang="en-US" sz="1100" dirty="0"/>
          </a:p>
        </p:txBody>
      </p:sp>
      <p:sp>
        <p:nvSpPr>
          <p:cNvPr id="20" name="Text 17"/>
          <p:cNvSpPr/>
          <p:nvPr/>
        </p:nvSpPr>
        <p:spPr>
          <a:xfrm>
            <a:off x="6217920" y="2505456"/>
            <a:ext cx="2468880" cy="224028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Stable grids are essential for smart cities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Prevents blackouts in urban communities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Enables data-driven urban energy planning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583680" y="-731520"/>
            <a:ext cx="3657600" cy="3657600"/>
          </a:xfrm>
          <a:prstGeom prst="ellipse">
            <a:avLst/>
          </a:prstGeom>
          <a:solidFill>
            <a:srgbClr val="1A56DB">
              <a:alpha val="16000"/>
            </a:srgbClr>
          </a:solidFill>
          <a:ln w="12700">
            <a:solidFill>
              <a:srgbClr val="0D1B3E"/>
            </a:solidFill>
            <a:prstDash val="solid"/>
          </a:ln>
        </p:spPr>
      </p:sp>
      <p:sp>
        <p:nvSpPr>
          <p:cNvPr id="3" name="Shape 1"/>
          <p:cNvSpPr/>
          <p:nvPr/>
        </p:nvSpPr>
        <p:spPr>
          <a:xfrm>
            <a:off x="-914400" y="3474720"/>
            <a:ext cx="2743200" cy="2743200"/>
          </a:xfrm>
          <a:prstGeom prst="ellipse">
            <a:avLst/>
          </a:prstGeom>
          <a:solidFill>
            <a:srgbClr val="0891B2">
              <a:alpha val="14000"/>
            </a:srgbClr>
          </a:solidFill>
          <a:ln w="12700">
            <a:solidFill>
              <a:srgbClr val="0D1B3E"/>
            </a:solidFill>
            <a:prstDash val="solid"/>
          </a:ln>
        </p:spPr>
      </p:sp>
      <p:pic>
        <p:nvPicPr>
          <p:cNvPr id="4" name="Image 0" descr="preencoded.png">    </p:cNvPr>
          <p:cNvPicPr>
            <a:picLocks noChangeAspect="1"/>
          </p:cNvPicPr>
          <p:nvPr/>
        </p:nvPicPr>
        <p:blipFill>
          <a:blip r:embed="rId1"/>
          <a:stretch>
            <a:fillRect/>
          </a:stretch>
        </p:blipFill>
        <p:spPr>
          <a:xfrm>
            <a:off x="320040" y="182880"/>
            <a:ext cx="502920" cy="502920"/>
          </a:xfrm>
          <a:prstGeom prst="rect">
            <a:avLst/>
          </a:prstGeom>
        </p:spPr>
      </p:pic>
      <p:sp>
        <p:nvSpPr>
          <p:cNvPr id="5" name="Text 2"/>
          <p:cNvSpPr/>
          <p:nvPr/>
        </p:nvSpPr>
        <p:spPr>
          <a:xfrm>
            <a:off x="914400" y="164592"/>
            <a:ext cx="80467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&amp; Future Scope</a:t>
            </a:r>
            <a:endParaRPr lang="en-US" sz="2600" dirty="0"/>
          </a:p>
        </p:txBody>
      </p:sp>
      <p:sp>
        <p:nvSpPr>
          <p:cNvPr id="6" name="Text 3"/>
          <p:cNvSpPr/>
          <p:nvPr/>
        </p:nvSpPr>
        <p:spPr>
          <a:xfrm>
            <a:off x="320040" y="960120"/>
            <a:ext cx="4114800" cy="347472"/>
          </a:xfrm>
          <a:prstGeom prst="rect">
            <a:avLst/>
          </a:prstGeom>
          <a:noFill/>
          <a:ln/>
        </p:spPr>
        <p:txBody>
          <a:bodyPr wrap="square" rtlCol="0" anchor="ctr"/>
          <a:lstStyle/>
          <a:p>
            <a:pPr indent="0" marL="0">
              <a:buNone/>
            </a:pPr>
            <a:r>
              <a:rPr lang="en-US" sz="1500" b="1" dirty="0">
                <a:solidFill>
                  <a:srgbClr val="6EE7B7"/>
                </a:solidFill>
                <a:latin typeface="Calibri" pitchFamily="34" charset="0"/>
                <a:ea typeface="Calibri" pitchFamily="34" charset="-122"/>
                <a:cs typeface="Calibri" pitchFamily="34" charset="-120"/>
              </a:rPr>
              <a:t>Key Achievements</a:t>
            </a:r>
            <a:endParaRPr lang="en-US" sz="1500" dirty="0"/>
          </a:p>
        </p:txBody>
      </p:sp>
      <p:sp>
        <p:nvSpPr>
          <p:cNvPr id="7" name="Text 4"/>
          <p:cNvSpPr/>
          <p:nvPr/>
        </p:nvSpPr>
        <p:spPr>
          <a:xfrm>
            <a:off x="320040" y="1325880"/>
            <a:ext cx="4114800" cy="2194560"/>
          </a:xfrm>
          <a:prstGeom prst="rect">
            <a:avLst/>
          </a:prstGeom>
          <a:noFill/>
          <a:ln/>
        </p:spPr>
        <p:txBody>
          <a:bodyPr wrap="square" rtlCol="0" anchor="ctr"/>
          <a:lstStyle/>
          <a:p>
            <a:pPr marL="342900" indent="-342900">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Trained &amp; compared 4 ML models on a benchmark dataset</a:t>
            </a:r>
            <a:endParaRPr lang="en-US" sz="1200" dirty="0"/>
          </a:p>
          <a:p>
            <a:pPr marL="342900" indent="-342900">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XGBoost achieved ~97% prediction accuracy</a:t>
            </a:r>
            <a:endParaRPr lang="en-US" sz="1200" dirty="0"/>
          </a:p>
          <a:p>
            <a:pPr marL="342900" indent="-342900">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Deployed via an interactive Streamlit dashboard</a:t>
            </a:r>
            <a:endParaRPr lang="en-US" sz="1200" dirty="0"/>
          </a:p>
          <a:p>
            <a:pPr marL="342900" indent="-342900">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Aligned with SDGs 7, 9, and 11</a:t>
            </a:r>
            <a:endParaRPr lang="en-US" sz="1200" dirty="0"/>
          </a:p>
        </p:txBody>
      </p:sp>
      <p:sp>
        <p:nvSpPr>
          <p:cNvPr id="8" name="Shape 5"/>
          <p:cNvSpPr/>
          <p:nvPr/>
        </p:nvSpPr>
        <p:spPr>
          <a:xfrm>
            <a:off x="4572000" y="960120"/>
            <a:ext cx="0" cy="3657600"/>
          </a:xfrm>
          <a:prstGeom prst="line">
            <a:avLst/>
          </a:prstGeom>
          <a:noFill/>
          <a:ln w="12700">
            <a:solidFill>
              <a:srgbClr val="334155"/>
            </a:solidFill>
            <a:prstDash val="dash"/>
          </a:ln>
        </p:spPr>
      </p:sp>
      <p:sp>
        <p:nvSpPr>
          <p:cNvPr id="9" name="Text 6"/>
          <p:cNvSpPr/>
          <p:nvPr/>
        </p:nvSpPr>
        <p:spPr>
          <a:xfrm>
            <a:off x="4800600" y="960120"/>
            <a:ext cx="4023360" cy="347472"/>
          </a:xfrm>
          <a:prstGeom prst="rect">
            <a:avLst/>
          </a:prstGeom>
          <a:noFill/>
          <a:ln/>
        </p:spPr>
        <p:txBody>
          <a:bodyPr wrap="square" rtlCol="0" anchor="ctr"/>
          <a:lstStyle/>
          <a:p>
            <a:pPr indent="0" marL="0">
              <a:buNone/>
            </a:pPr>
            <a:r>
              <a:rPr lang="en-US" sz="1500" b="1" dirty="0">
                <a:solidFill>
                  <a:srgbClr val="93C5FD"/>
                </a:solidFill>
                <a:latin typeface="Calibri" pitchFamily="34" charset="0"/>
                <a:ea typeface="Calibri" pitchFamily="34" charset="-122"/>
                <a:cs typeface="Calibri" pitchFamily="34" charset="-120"/>
              </a:rPr>
              <a:t>Future Scope</a:t>
            </a:r>
            <a:endParaRPr lang="en-US" sz="1500" dirty="0"/>
          </a:p>
        </p:txBody>
      </p:sp>
      <p:sp>
        <p:nvSpPr>
          <p:cNvPr id="10" name="Text 7"/>
          <p:cNvSpPr/>
          <p:nvPr/>
        </p:nvSpPr>
        <p:spPr>
          <a:xfrm>
            <a:off x="4800600" y="1325880"/>
            <a:ext cx="4023360" cy="2194560"/>
          </a:xfrm>
          <a:prstGeom prst="rect">
            <a:avLst/>
          </a:prstGeom>
          <a:noFill/>
          <a:ln/>
        </p:spPr>
        <p:txBody>
          <a:bodyPr wrap="square" rtlCol="0" anchor="ctr"/>
          <a:lstStyle/>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Real-time IoT sensor data integration</a:t>
            </a:r>
            <a:endParaRPr lang="en-US" sz="1200" dirty="0"/>
          </a:p>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Time-series forecasting with LSTM models</a:t>
            </a:r>
            <a:endParaRPr lang="en-US" sz="1200" dirty="0"/>
          </a:p>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Explainable AI using SHAP values</a:t>
            </a:r>
            <a:endParaRPr lang="en-US" sz="1200" dirty="0"/>
          </a:p>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Cloud deployment (AWS / Streamlit Cloud)</a:t>
            </a:r>
            <a:endParaRPr lang="en-US" sz="1200" dirty="0"/>
          </a:p>
        </p:txBody>
      </p:sp>
      <p:sp>
        <p:nvSpPr>
          <p:cNvPr id="11" name="Shape 8"/>
          <p:cNvSpPr/>
          <p:nvPr/>
        </p:nvSpPr>
        <p:spPr>
          <a:xfrm>
            <a:off x="1371600" y="3703320"/>
            <a:ext cx="6400800" cy="1234440"/>
          </a:xfrm>
          <a:prstGeom prst="roundRect">
            <a:avLst>
              <a:gd name="adj" fmla="val 11111"/>
            </a:avLst>
          </a:prstGeom>
          <a:solidFill>
            <a:srgbClr val="0F2A5C"/>
          </a:solidFill>
          <a:ln w="19050">
            <a:solidFill>
              <a:srgbClr val="1A56DB"/>
            </a:solidFill>
            <a:prstDash val="solid"/>
          </a:ln>
        </p:spPr>
      </p:sp>
      <p:sp>
        <p:nvSpPr>
          <p:cNvPr id="12" name="Text 9"/>
          <p:cNvSpPr/>
          <p:nvPr/>
        </p:nvSpPr>
        <p:spPr>
          <a:xfrm>
            <a:off x="1371600" y="3749040"/>
            <a:ext cx="640080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Thank You</a:t>
            </a:r>
            <a:endParaRPr lang="en-US" sz="2200" dirty="0"/>
          </a:p>
        </p:txBody>
      </p:sp>
      <p:sp>
        <p:nvSpPr>
          <p:cNvPr id="13" name="Text 10"/>
          <p:cNvSpPr/>
          <p:nvPr/>
        </p:nvSpPr>
        <p:spPr>
          <a:xfrm>
            <a:off x="1371600" y="4206240"/>
            <a:ext cx="6400800" cy="347472"/>
          </a:xfrm>
          <a:prstGeom prst="rect">
            <a:avLst/>
          </a:prstGeom>
          <a:noFill/>
          <a:ln/>
        </p:spPr>
        <p:txBody>
          <a:bodyPr wrap="square" rtlCol="0" anchor="ctr"/>
          <a:lstStyle/>
          <a:p>
            <a:pPr algn="ctr" indent="0" marL="0">
              <a:buNone/>
            </a:pPr>
            <a:r>
              <a:rPr lang="en-US" sz="1200" i="1" dirty="0">
                <a:solidFill>
                  <a:srgbClr val="93C5FD"/>
                </a:solidFill>
                <a:latin typeface="Calibri" pitchFamily="34" charset="0"/>
                <a:ea typeface="Calibri" pitchFamily="34" charset="-122"/>
                <a:cs typeface="Calibri" pitchFamily="34" charset="-120"/>
              </a:rPr>
              <a:t>Open to questions from the review committee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SmartGrid Guardian</dc:title>
  <dc:subject>PptxGenJS Presentation</dc:subject>
  <dc:creator>B.Tech CSE Presentation</dc:creator>
  <cp:lastModifiedBy>B.Tech CSE Presentation</cp:lastModifiedBy>
  <cp:revision>1</cp:revision>
  <dcterms:created xsi:type="dcterms:W3CDTF">2026-06-24T04:45:41Z</dcterms:created>
  <dcterms:modified xsi:type="dcterms:W3CDTF">2026-06-24T04:45:41Z</dcterms:modified>
</cp:coreProperties>
</file>